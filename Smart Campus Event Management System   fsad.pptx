
<file path=[Content_Types].xml><?xml version="1.0" encoding="utf-8"?>
<Types xmlns="http://schemas.openxmlformats.org/package/2006/content-types">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29" y="59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A LOKESH REDDY GUVVALA" userId="c73980a413b1ca01" providerId="LiveId" clId="{98124EFB-086E-4126-8333-4FE1180CA147}"/>
    <pc:docChg chg="modSld">
      <pc:chgData name="VENKATA LOKESH REDDY GUVVALA" userId="c73980a413b1ca01" providerId="LiveId" clId="{98124EFB-086E-4126-8333-4FE1180CA147}" dt="2026-05-06T03:35:45.230" v="142" actId="20577"/>
      <pc:docMkLst>
        <pc:docMk/>
      </pc:docMkLst>
      <pc:sldChg chg="modSp mod">
        <pc:chgData name="VENKATA LOKESH REDDY GUVVALA" userId="c73980a413b1ca01" providerId="LiveId" clId="{98124EFB-086E-4126-8333-4FE1180CA147}" dt="2026-05-06T03:35:45.230" v="142" actId="20577"/>
        <pc:sldMkLst>
          <pc:docMk/>
          <pc:sldMk cId="0" sldId="256"/>
        </pc:sldMkLst>
        <pc:spChg chg="mod">
          <ac:chgData name="VENKATA LOKESH REDDY GUVVALA" userId="c73980a413b1ca01" providerId="LiveId" clId="{98124EFB-086E-4126-8333-4FE1180CA147}" dt="2026-05-06T03:35:13.849" v="89" actId="20577"/>
          <ac:spMkLst>
            <pc:docMk/>
            <pc:sldMk cId="0" sldId="256"/>
            <ac:spMk id="101" creationId="{00000000-0000-0000-0000-000000000000}"/>
          </ac:spMkLst>
        </pc:spChg>
        <pc:spChg chg="mod">
          <ac:chgData name="VENKATA LOKESH REDDY GUVVALA" userId="c73980a413b1ca01" providerId="LiveId" clId="{98124EFB-086E-4126-8333-4FE1180CA147}" dt="2026-05-06T03:35:45.230" v="142" actId="20577"/>
          <ac:spMkLst>
            <pc:docMk/>
            <pc:sldMk cId="0" sldId="256"/>
            <ac:spMk id="10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2" name="Body Level One…"/>
          <p:cNvSpPr txBox="1">
            <a:spLocks noGrp="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21" name="Body Level One…"/>
          <p:cNvSpPr txBox="1">
            <a:spLocks noGrp="1"/>
          </p:cNvSpPr>
          <p:nvPr>
            <p:ph type="body" sz="quarter" idx="1"/>
          </p:nvPr>
        </p:nvSpPr>
        <p:spPr>
          <a:xfrm>
            <a:off x="457200" y="1600200"/>
            <a:ext cx="8229600" cy="452596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Title Text</a:t>
            </a:r>
          </a:p>
        </p:txBody>
      </p:sp>
      <p:sp>
        <p:nvSpPr>
          <p:cNvPr id="30" name="Body Level One…"/>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39" name="Body Level One…"/>
          <p:cNvSpPr txBox="1">
            <a:spLocks noGrp="1"/>
          </p:cNvSpPr>
          <p:nvPr>
            <p:ph type="body" sz="quarter"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48" name="Body Level One…"/>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457200" y="273050"/>
            <a:ext cx="3008314" cy="1162050"/>
          </a:xfrm>
          <a:prstGeom prst="rect">
            <a:avLst/>
          </a:prstGeom>
        </p:spPr>
        <p:txBody>
          <a:bodyPr anchor="b"/>
          <a:lstStyle>
            <a:lvl1pPr algn="l">
              <a:defRPr sz="2000" b="1"/>
            </a:lvl1pPr>
          </a:lstStyle>
          <a:p>
            <a:r>
              <a:t>Title Text</a:t>
            </a:r>
          </a:p>
        </p:txBody>
      </p:sp>
      <p:sp>
        <p:nvSpPr>
          <p:cNvPr id="73" name="Body Level One…"/>
          <p:cNvSpPr txBox="1">
            <a:spLocks noGrp="1"/>
          </p:cNvSpPr>
          <p:nvPr>
            <p:ph type="body" sz="quarter"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1792288" y="4800600"/>
            <a:ext cx="5486401" cy="566738"/>
          </a:xfrm>
          <a:prstGeom prst="rect">
            <a:avLst/>
          </a:prstGeom>
        </p:spPr>
        <p:txBody>
          <a:bodyPr anchor="b"/>
          <a:lstStyle>
            <a:lvl1pPr algn="l">
              <a:defRPr sz="2000" b="1"/>
            </a:lvl1pPr>
          </a:lstStyle>
          <a:p>
            <a:r>
              <a:t>Title Text</a:t>
            </a:r>
          </a:p>
        </p:txBody>
      </p:sp>
      <p:sp>
        <p:nvSpPr>
          <p:cNvPr id="83" name="Picture Placeholder 2"/>
          <p:cNvSpPr>
            <a:spLocks noGrp="1"/>
          </p:cNvSpPr>
          <p:nvPr>
            <p:ph type="pic" sz="quarter" idx="21"/>
          </p:nvPr>
        </p:nvSpPr>
        <p:spPr>
          <a:xfrm>
            <a:off x="1792288" y="612775"/>
            <a:ext cx="5486401" cy="4114800"/>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914400" y="138112"/>
            <a:ext cx="16459200" cy="22621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914400" y="2400300"/>
            <a:ext cx="16459200" cy="7886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tif"/><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tif"/><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94" name="Freeform 11"/>
          <p:cNvSpPr/>
          <p:nvPr/>
        </p:nvSpPr>
        <p:spPr>
          <a:xfrm>
            <a:off x="11762088" y="-9632634"/>
            <a:ext cx="10994424" cy="10994424"/>
          </a:xfrm>
          <a:prstGeom prst="ellipse">
            <a:avLst/>
          </a:prstGeom>
          <a:ln w="514350" cap="sq">
            <a:solidFill>
              <a:srgbClr val="FD6220">
                <a:alpha val="11765"/>
              </a:srgbClr>
            </a:solidFill>
            <a:miter/>
          </a:ln>
        </p:spPr>
        <p:txBody>
          <a:bodyPr lIns="45719" rIns="45719"/>
          <a:lstStyle/>
          <a:p>
            <a:endParaRPr/>
          </a:p>
        </p:txBody>
      </p:sp>
      <p:sp>
        <p:nvSpPr>
          <p:cNvPr id="95" name="Freeform 20"/>
          <p:cNvSpPr/>
          <p:nvPr/>
        </p:nvSpPr>
        <p:spPr>
          <a:xfrm>
            <a:off x="-9965724" y="-1383136"/>
            <a:ext cx="10994424" cy="10994424"/>
          </a:xfrm>
          <a:prstGeom prst="ellipse">
            <a:avLst/>
          </a:prstGeom>
          <a:ln w="514350" cap="sq">
            <a:solidFill>
              <a:srgbClr val="FD6220">
                <a:alpha val="11765"/>
              </a:srgbClr>
            </a:solidFill>
            <a:miter/>
          </a:ln>
        </p:spPr>
        <p:txBody>
          <a:bodyPr lIns="45719" rIns="45719"/>
          <a:lstStyle/>
          <a:p>
            <a:endParaRPr/>
          </a:p>
        </p:txBody>
      </p:sp>
      <p:pic>
        <p:nvPicPr>
          <p:cNvPr id="96" name="Picture 22" descr="Picture 22"/>
          <p:cNvPicPr>
            <a:picLocks noChangeAspect="1"/>
          </p:cNvPicPr>
          <p:nvPr/>
        </p:nvPicPr>
        <p:blipFill>
          <a:blip r:embed="rId2"/>
          <a:stretch>
            <a:fillRect/>
          </a:stretch>
        </p:blipFill>
        <p:spPr>
          <a:xfrm>
            <a:off x="6610443" y="196688"/>
            <a:ext cx="4752248" cy="1360613"/>
          </a:xfrm>
          <a:prstGeom prst="rect">
            <a:avLst/>
          </a:prstGeom>
          <a:ln w="12700">
            <a:miter lim="400000"/>
          </a:ln>
        </p:spPr>
      </p:pic>
      <p:sp>
        <p:nvSpPr>
          <p:cNvPr id="97" name="TextBox 23"/>
          <p:cNvSpPr txBox="1"/>
          <p:nvPr/>
        </p:nvSpPr>
        <p:spPr>
          <a:xfrm>
            <a:off x="1405721" y="1608481"/>
            <a:ext cx="15834362" cy="15646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3200">
                <a:latin typeface="Cambria"/>
                <a:ea typeface="Cambria"/>
                <a:cs typeface="Cambria"/>
                <a:sym typeface="Cambria"/>
              </a:defRPr>
            </a:pPr>
            <a:r>
              <a:t>Vel Tech Rangarajan Dr. Sagunthala R&amp;D Institute of Science and Technology</a:t>
            </a:r>
          </a:p>
          <a:p>
            <a:pPr algn="ctr">
              <a:defRPr sz="3600">
                <a:latin typeface="Cambria"/>
                <a:ea typeface="Cambria"/>
                <a:cs typeface="Cambria"/>
                <a:sym typeface="Cambria"/>
              </a:defRPr>
            </a:pPr>
            <a:r>
              <a:t>School of Computing </a:t>
            </a:r>
          </a:p>
          <a:p>
            <a:pPr algn="ctr">
              <a:defRPr sz="3200">
                <a:latin typeface="Cambria"/>
                <a:ea typeface="Cambria"/>
                <a:cs typeface="Cambria"/>
                <a:sym typeface="Cambria"/>
              </a:defRPr>
            </a:pPr>
            <a:r>
              <a:t>Department of Computer Science and Engineering</a:t>
            </a:r>
          </a:p>
        </p:txBody>
      </p:sp>
      <p:sp>
        <p:nvSpPr>
          <p:cNvPr id="98" name="TextBox 25"/>
          <p:cNvSpPr txBox="1"/>
          <p:nvPr/>
        </p:nvSpPr>
        <p:spPr>
          <a:xfrm>
            <a:off x="1738554" y="3272356"/>
            <a:ext cx="15168697"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800" b="1">
                <a:solidFill>
                  <a:srgbClr val="0033CC"/>
                </a:solidFill>
                <a:latin typeface="Bookman Old Style"/>
                <a:ea typeface="Bookman Old Style"/>
                <a:cs typeface="Bookman Old Style"/>
                <a:sym typeface="Bookman Old Style"/>
              </a:defRPr>
            </a:lvl1pPr>
          </a:lstStyle>
          <a:p>
            <a:r>
              <a:t>10211CS224 / FULL STACK APPLICATION DEVELOPMENT (JAVA)</a:t>
            </a:r>
          </a:p>
        </p:txBody>
      </p:sp>
      <p:sp>
        <p:nvSpPr>
          <p:cNvPr id="99" name="TextBox 26"/>
          <p:cNvSpPr txBox="1"/>
          <p:nvPr/>
        </p:nvSpPr>
        <p:spPr>
          <a:xfrm>
            <a:off x="3773477" y="3897939"/>
            <a:ext cx="11098849" cy="16766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3600" b="1">
                <a:solidFill>
                  <a:srgbClr val="C00000"/>
                </a:solidFill>
                <a:latin typeface="Arial"/>
                <a:ea typeface="Arial"/>
                <a:cs typeface="Arial"/>
                <a:sym typeface="Arial"/>
              </a:defRPr>
            </a:pPr>
            <a:r>
              <a:t>PROJECT REVIEW : MILESTONE FINAL PROJECT </a:t>
            </a:r>
          </a:p>
          <a:p>
            <a:pPr algn="ctr">
              <a:defRPr sz="3600" b="1">
                <a:solidFill>
                  <a:srgbClr val="C00000"/>
                </a:solidFill>
                <a:latin typeface="Arial"/>
                <a:ea typeface="Arial"/>
                <a:cs typeface="Arial"/>
                <a:sym typeface="Arial"/>
              </a:defRPr>
            </a:pPr>
            <a:endParaRPr/>
          </a:p>
          <a:p>
            <a:pPr algn="ctr">
              <a:defRPr sz="3600" b="1">
                <a:solidFill>
                  <a:srgbClr val="C00000"/>
                </a:solidFill>
                <a:latin typeface="Arial"/>
                <a:ea typeface="Arial"/>
                <a:cs typeface="Arial"/>
                <a:sym typeface="Arial"/>
              </a:defRPr>
            </a:pPr>
            <a:r>
              <a:t>Date: 06-05-2026</a:t>
            </a:r>
          </a:p>
        </p:txBody>
      </p:sp>
      <p:sp>
        <p:nvSpPr>
          <p:cNvPr id="100" name="TextBox 12"/>
          <p:cNvSpPr txBox="1"/>
          <p:nvPr/>
        </p:nvSpPr>
        <p:spPr>
          <a:xfrm>
            <a:off x="1547359" y="6057900"/>
            <a:ext cx="15692724" cy="544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3200" b="1">
                <a:solidFill>
                  <a:srgbClr val="0033CC"/>
                </a:solidFill>
                <a:latin typeface="Times New Roman"/>
                <a:ea typeface="Times New Roman"/>
                <a:cs typeface="Times New Roman"/>
                <a:sym typeface="Times New Roman"/>
              </a:defRPr>
            </a:lvl1pPr>
          </a:lstStyle>
          <a:p>
            <a:r>
              <a:t> Smart Campus Event Management System</a:t>
            </a:r>
          </a:p>
        </p:txBody>
      </p:sp>
      <p:sp>
        <p:nvSpPr>
          <p:cNvPr id="101" name="TextBox 13"/>
          <p:cNvSpPr txBox="1"/>
          <p:nvPr/>
        </p:nvSpPr>
        <p:spPr>
          <a:xfrm>
            <a:off x="939589" y="7800539"/>
            <a:ext cx="8976361" cy="13916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50000"/>
              </a:lnSpc>
              <a:defRPr sz="3000">
                <a:latin typeface="Cambria"/>
                <a:ea typeface="Cambria"/>
                <a:cs typeface="Cambria"/>
                <a:sym typeface="Cambria"/>
              </a:defRPr>
            </a:pPr>
            <a:r>
              <a:rPr dirty="0"/>
              <a:t>Presented By:</a:t>
            </a:r>
          </a:p>
          <a:p>
            <a:pPr>
              <a:lnSpc>
                <a:spcPct val="150000"/>
              </a:lnSpc>
              <a:defRPr sz="3000">
                <a:latin typeface="Cambria"/>
                <a:ea typeface="Cambria"/>
                <a:cs typeface="Cambria"/>
                <a:sym typeface="Cambria"/>
              </a:defRPr>
            </a:pPr>
            <a:r>
              <a:rPr lang="en-IN" dirty="0"/>
              <a:t>P PAVAN KMAR-</a:t>
            </a:r>
            <a:r>
              <a:rPr dirty="0"/>
              <a:t> VTU26</a:t>
            </a:r>
            <a:r>
              <a:rPr lang="en-IN" dirty="0"/>
              <a:t>778</a:t>
            </a:r>
            <a:r>
              <a:rPr dirty="0"/>
              <a:t> – Reg.No.23UECS</a:t>
            </a:r>
            <a:r>
              <a:rPr lang="en-IN" dirty="0"/>
              <a:t>0453</a:t>
            </a:r>
            <a:endParaRPr dirty="0"/>
          </a:p>
        </p:txBody>
      </p:sp>
      <p:sp>
        <p:nvSpPr>
          <p:cNvPr id="102" name="TextBox 14"/>
          <p:cNvSpPr txBox="1"/>
          <p:nvPr/>
        </p:nvSpPr>
        <p:spPr>
          <a:xfrm>
            <a:off x="10990754" y="7818586"/>
            <a:ext cx="6823163" cy="13916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50000"/>
              </a:lnSpc>
              <a:defRPr sz="3000">
                <a:latin typeface="Cambria"/>
                <a:ea typeface="Cambria"/>
                <a:cs typeface="Cambria"/>
                <a:sym typeface="Cambria"/>
              </a:defRPr>
            </a:pPr>
            <a:r>
              <a:rPr dirty="0"/>
              <a:t>Courses Handling Faculty:</a:t>
            </a:r>
          </a:p>
          <a:p>
            <a:pPr>
              <a:lnSpc>
                <a:spcPct val="150000"/>
              </a:lnSpc>
              <a:defRPr sz="3000">
                <a:latin typeface="Cambria"/>
                <a:ea typeface="Cambria"/>
                <a:cs typeface="Cambria"/>
                <a:sym typeface="Cambria"/>
              </a:defRPr>
            </a:pPr>
            <a:r>
              <a:rPr dirty="0"/>
              <a:t>Dr.</a:t>
            </a:r>
            <a:r>
              <a:rPr lang="en-IN" dirty="0"/>
              <a:t> </a:t>
            </a:r>
            <a:r>
              <a:rPr lang="en-IN" dirty="0" err="1"/>
              <a:t>Hemamalini.S</a:t>
            </a:r>
            <a:endParaRPr dirty="0"/>
          </a:p>
        </p:txBody>
      </p:sp>
      <p:sp>
        <p:nvSpPr>
          <p:cNvPr id="103" name="TextBox 15"/>
          <p:cNvSpPr txBox="1"/>
          <p:nvPr/>
        </p:nvSpPr>
        <p:spPr>
          <a:xfrm>
            <a:off x="2255520" y="6972300"/>
            <a:ext cx="14651731" cy="447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000">
                <a:latin typeface="Cambria"/>
                <a:ea typeface="Cambria"/>
                <a:cs typeface="Cambria"/>
                <a:sym typeface="Cambria"/>
              </a:defRPr>
            </a:pPr>
            <a:r>
              <a:t>                             </a:t>
            </a:r>
            <a:r>
              <a:rPr sz="2400"/>
              <a:t>SDG</a:t>
            </a:r>
            <a:r>
              <a:t> :  </a:t>
            </a:r>
            <a:r>
              <a:rPr sz="2400">
                <a:latin typeface="Times New Roman"/>
                <a:ea typeface="Times New Roman"/>
                <a:cs typeface="Times New Roman"/>
                <a:sym typeface="Times New Roman"/>
              </a:rPr>
              <a:t>SDG 4 – Quality Education and SDG 8 – Decent Work and Economic Growth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5" name="Freeform 8"/>
          <p:cNvSpPr/>
          <p:nvPr/>
        </p:nvSpPr>
        <p:spPr>
          <a:xfrm>
            <a:off x="16313419" y="910464"/>
            <a:ext cx="945881" cy="236471"/>
          </a:xfrm>
          <a:prstGeom prst="rect">
            <a:avLst/>
          </a:prstGeom>
          <a:blipFill>
            <a:blip r:embed="rId2"/>
            <a:stretch>
              <a:fillRect/>
            </a:stretch>
          </a:blipFill>
          <a:ln w="12700">
            <a:miter lim="400000"/>
          </a:ln>
        </p:spPr>
        <p:txBody>
          <a:bodyPr lIns="45719" rIns="45719"/>
          <a:lstStyle/>
          <a:p>
            <a:endParaRPr/>
          </a:p>
        </p:txBody>
      </p:sp>
      <p:grpSp>
        <p:nvGrpSpPr>
          <p:cNvPr id="108" name="Group 9"/>
          <p:cNvGrpSpPr/>
          <p:nvPr/>
        </p:nvGrpSpPr>
        <p:grpSpPr>
          <a:xfrm>
            <a:off x="706081" y="1952202"/>
            <a:ext cx="992464" cy="992464"/>
            <a:chOff x="0" y="0"/>
            <a:chExt cx="992462" cy="992462"/>
          </a:xfrm>
        </p:grpSpPr>
        <p:sp>
          <p:nvSpPr>
            <p:cNvPr id="106" name="Freeform 10"/>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107" name="TextBox 11"/>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r>
                <a:t>1</a:t>
              </a:r>
            </a:p>
          </p:txBody>
        </p:sp>
      </p:grpSp>
      <p:grpSp>
        <p:nvGrpSpPr>
          <p:cNvPr id="111" name="Group 12"/>
          <p:cNvGrpSpPr/>
          <p:nvPr/>
        </p:nvGrpSpPr>
        <p:grpSpPr>
          <a:xfrm>
            <a:off x="948235" y="4447339"/>
            <a:ext cx="508159" cy="543806"/>
            <a:chOff x="0" y="0"/>
            <a:chExt cx="508157" cy="543804"/>
          </a:xfrm>
        </p:grpSpPr>
        <p:sp>
          <p:nvSpPr>
            <p:cNvPr id="109" name="Freeform 1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10" name="TextBox 1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4</a:t>
              </a:r>
            </a:p>
          </p:txBody>
        </p:sp>
      </p:grpSp>
      <p:grpSp>
        <p:nvGrpSpPr>
          <p:cNvPr id="114" name="Group 15"/>
          <p:cNvGrpSpPr/>
          <p:nvPr/>
        </p:nvGrpSpPr>
        <p:grpSpPr>
          <a:xfrm>
            <a:off x="948235" y="3107362"/>
            <a:ext cx="508159" cy="543806"/>
            <a:chOff x="0" y="0"/>
            <a:chExt cx="508157" cy="543804"/>
          </a:xfrm>
        </p:grpSpPr>
        <p:sp>
          <p:nvSpPr>
            <p:cNvPr id="112" name="Freeform 1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13" name="TextBox 1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2</a:t>
              </a:r>
            </a:p>
          </p:txBody>
        </p:sp>
      </p:grpSp>
      <p:grpSp>
        <p:nvGrpSpPr>
          <p:cNvPr id="117" name="Group 18"/>
          <p:cNvGrpSpPr/>
          <p:nvPr/>
        </p:nvGrpSpPr>
        <p:grpSpPr>
          <a:xfrm>
            <a:off x="948235" y="5115752"/>
            <a:ext cx="508159" cy="543806"/>
            <a:chOff x="0" y="0"/>
            <a:chExt cx="508157" cy="543804"/>
          </a:xfrm>
        </p:grpSpPr>
        <p:sp>
          <p:nvSpPr>
            <p:cNvPr id="115" name="Freeform 1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16" name="TextBox 2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5</a:t>
              </a:r>
            </a:p>
          </p:txBody>
        </p:sp>
      </p:grpSp>
      <p:grpSp>
        <p:nvGrpSpPr>
          <p:cNvPr id="120" name="Group 21"/>
          <p:cNvGrpSpPr/>
          <p:nvPr/>
        </p:nvGrpSpPr>
        <p:grpSpPr>
          <a:xfrm>
            <a:off x="948235" y="3776486"/>
            <a:ext cx="508159" cy="543806"/>
            <a:chOff x="0" y="0"/>
            <a:chExt cx="508157" cy="543804"/>
          </a:xfrm>
        </p:grpSpPr>
        <p:sp>
          <p:nvSpPr>
            <p:cNvPr id="118" name="Freeform 2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19" name="TextBox 2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3</a:t>
              </a:r>
            </a:p>
          </p:txBody>
        </p:sp>
      </p:grpSp>
      <p:grpSp>
        <p:nvGrpSpPr>
          <p:cNvPr id="123" name="Group 24"/>
          <p:cNvGrpSpPr/>
          <p:nvPr/>
        </p:nvGrpSpPr>
        <p:grpSpPr>
          <a:xfrm>
            <a:off x="948235" y="6455729"/>
            <a:ext cx="508159" cy="543806"/>
            <a:chOff x="0" y="0"/>
            <a:chExt cx="508157" cy="543804"/>
          </a:xfrm>
        </p:grpSpPr>
        <p:sp>
          <p:nvSpPr>
            <p:cNvPr id="121" name="Freeform 2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22" name="TextBox 2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7</a:t>
              </a:r>
            </a:p>
          </p:txBody>
        </p:sp>
      </p:grpSp>
      <p:grpSp>
        <p:nvGrpSpPr>
          <p:cNvPr id="126" name="Group 27"/>
          <p:cNvGrpSpPr/>
          <p:nvPr/>
        </p:nvGrpSpPr>
        <p:grpSpPr>
          <a:xfrm>
            <a:off x="948235" y="5784877"/>
            <a:ext cx="508159" cy="543806"/>
            <a:chOff x="0" y="0"/>
            <a:chExt cx="508157" cy="543804"/>
          </a:xfrm>
        </p:grpSpPr>
        <p:sp>
          <p:nvSpPr>
            <p:cNvPr id="124" name="Freeform 2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25" name="TextBox 2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6</a:t>
              </a:r>
            </a:p>
          </p:txBody>
        </p:sp>
      </p:grpSp>
      <p:grpSp>
        <p:nvGrpSpPr>
          <p:cNvPr id="129" name="Group 36"/>
          <p:cNvGrpSpPr/>
          <p:nvPr/>
        </p:nvGrpSpPr>
        <p:grpSpPr>
          <a:xfrm>
            <a:off x="948235" y="7123361"/>
            <a:ext cx="508159" cy="543806"/>
            <a:chOff x="0" y="0"/>
            <a:chExt cx="508157" cy="543804"/>
          </a:xfrm>
        </p:grpSpPr>
        <p:sp>
          <p:nvSpPr>
            <p:cNvPr id="127" name="Freeform 3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28" name="TextBox 3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8</a:t>
              </a:r>
            </a:p>
          </p:txBody>
        </p:sp>
      </p:grpSp>
      <p:grpSp>
        <p:nvGrpSpPr>
          <p:cNvPr id="132" name="Group 39"/>
          <p:cNvGrpSpPr/>
          <p:nvPr/>
        </p:nvGrpSpPr>
        <p:grpSpPr>
          <a:xfrm>
            <a:off x="948235" y="7790991"/>
            <a:ext cx="508159" cy="543806"/>
            <a:chOff x="0" y="0"/>
            <a:chExt cx="508157" cy="543804"/>
          </a:xfrm>
        </p:grpSpPr>
        <p:sp>
          <p:nvSpPr>
            <p:cNvPr id="130" name="Freeform 4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31" name="TextBox 4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9</a:t>
              </a:r>
            </a:p>
          </p:txBody>
        </p:sp>
      </p:grpSp>
      <p:sp>
        <p:nvSpPr>
          <p:cNvPr id="133" name="TextBox 1"/>
          <p:cNvSpPr txBox="1"/>
          <p:nvPr/>
        </p:nvSpPr>
        <p:spPr>
          <a:xfrm>
            <a:off x="198120" y="342899"/>
            <a:ext cx="18044161" cy="4584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600" b="1">
                <a:solidFill>
                  <a:srgbClr val="0033CC"/>
                </a:solidFill>
                <a:latin typeface="Times New Roman"/>
                <a:ea typeface="Times New Roman"/>
                <a:cs typeface="Times New Roman"/>
                <a:sym typeface="Times New Roman"/>
              </a:defRPr>
            </a:lvl1pPr>
          </a:lstStyle>
          <a:p>
            <a:r>
              <a:t>INTRODUCTION</a:t>
            </a:r>
          </a:p>
        </p:txBody>
      </p:sp>
      <p:sp>
        <p:nvSpPr>
          <p:cNvPr id="134" name="TextBox 2"/>
          <p:cNvSpPr txBox="1"/>
          <p:nvPr/>
        </p:nvSpPr>
        <p:spPr>
          <a:xfrm>
            <a:off x="2255519" y="1638300"/>
            <a:ext cx="14990886" cy="13190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330200" indent="-330200" defTabSz="12700">
              <a:lnSpc>
                <a:spcPct val="135000"/>
              </a:lnSpc>
              <a:spcBef>
                <a:spcPts val="1200"/>
              </a:spcBef>
              <a:tabLst>
                <a:tab pos="228600" algn="r"/>
                <a:tab pos="330200" algn="l"/>
              </a:tabLst>
              <a:defRPr sz="2800">
                <a:solidFill>
                  <a:srgbClr val="111111"/>
                </a:solidFill>
                <a:latin typeface="+mn-lt"/>
                <a:ea typeface="+mn-ea"/>
                <a:cs typeface="+mn-cs"/>
                <a:sym typeface="Helvetica"/>
              </a:defRPr>
            </a:pPr>
            <a:r>
              <a:t>	</a:t>
            </a:r>
            <a:r>
              <a:rPr sz="3200"/>
              <a:t>The Smart Campus Event Management System is a web-based application designed to manage and organize campus events efficiently.</a:t>
            </a:r>
            <a:endParaRPr sz="1200"/>
          </a:p>
          <a:p>
            <a:pPr marL="406400" indent="-101600" defTabSz="12700">
              <a:lnSpc>
                <a:spcPct val="135000"/>
              </a:lnSpc>
              <a:buSzPct val="100000"/>
              <a:buFont typeface="TimesNewRomanPSMT"/>
              <a:buAutoNum type="arabicPeriod"/>
              <a:defRPr sz="2800">
                <a:latin typeface="+mn-lt"/>
                <a:ea typeface="+mn-ea"/>
                <a:cs typeface="+mn-cs"/>
                <a:sym typeface="Helvetica"/>
              </a:defRPr>
            </a:pPr>
            <a:r>
              <a:t>It provides a centralized platform for students, publishers, and hosts to interact and manage event-related activities.</a:t>
            </a:r>
            <a:endParaRPr sz="1900"/>
          </a:p>
          <a:p>
            <a:pPr marL="406400" indent="-101600" defTabSz="12700">
              <a:lnSpc>
                <a:spcPct val="135000"/>
              </a:lnSpc>
              <a:buSzPct val="100000"/>
              <a:buFont typeface="TimesNewRomanPSMT"/>
              <a:buAutoNum type="arabicPeriod"/>
              <a:defRPr sz="2800">
                <a:latin typeface="+mn-lt"/>
                <a:ea typeface="+mn-ea"/>
                <a:cs typeface="+mn-cs"/>
                <a:sym typeface="Helvetica"/>
              </a:defRPr>
            </a:pPr>
            <a:r>
              <a:t>Students can easily browse upcoming events, register online, and track their participation.</a:t>
            </a:r>
            <a:endParaRPr sz="1900"/>
          </a:p>
          <a:p>
            <a:pPr marL="406400" indent="-101600" defTabSz="12700">
              <a:lnSpc>
                <a:spcPct val="135000"/>
              </a:lnSpc>
              <a:buSzPct val="100000"/>
              <a:buFont typeface="TimesNewRomanPSMT"/>
              <a:buAutoNum type="arabicPeriod"/>
              <a:defRPr sz="2800">
                <a:latin typeface="+mn-lt"/>
                <a:ea typeface="+mn-ea"/>
                <a:cs typeface="+mn-cs"/>
                <a:sym typeface="Helvetica"/>
              </a:defRPr>
            </a:pPr>
            <a:r>
              <a:t>Event publishers can create, update, and manage event details in a structured way.</a:t>
            </a:r>
            <a:endParaRPr sz="1900"/>
          </a:p>
          <a:p>
            <a:pPr marL="406400" indent="-101600" defTabSz="12700">
              <a:lnSpc>
                <a:spcPct val="135000"/>
              </a:lnSpc>
              <a:buSzPct val="100000"/>
              <a:buFont typeface="TimesNewRomanPSMT"/>
              <a:buAutoNum type="arabicPeriod"/>
              <a:defRPr sz="2800">
                <a:latin typeface="+mn-lt"/>
                <a:ea typeface="+mn-ea"/>
                <a:cs typeface="+mn-cs"/>
                <a:sym typeface="Helvetica"/>
              </a:defRPr>
            </a:pPr>
            <a:r>
              <a:t>Hosts (administrators) can monitor the system, approve events, and analyze participation data.</a:t>
            </a:r>
            <a:endParaRPr sz="1900"/>
          </a:p>
          <a:p>
            <a:pPr marL="406400" indent="-101600" defTabSz="12700">
              <a:lnSpc>
                <a:spcPct val="135000"/>
              </a:lnSpc>
              <a:buSzPct val="100000"/>
              <a:buFont typeface="TimesNewRomanPSMT"/>
              <a:buAutoNum type="arabicPeriod"/>
              <a:defRPr sz="2800">
                <a:latin typeface="+mn-lt"/>
                <a:ea typeface="+mn-ea"/>
                <a:cs typeface="+mn-cs"/>
                <a:sym typeface="Helvetica"/>
              </a:defRPr>
            </a:pPr>
            <a:r>
              <a:t>The system is built using modern full-stack technologies like Spring Boot and JPA ORM for efficient data handling.</a:t>
            </a:r>
            <a:endParaRPr sz="1900"/>
          </a:p>
          <a:p>
            <a:pPr marL="406400" indent="-101600" defTabSz="12700">
              <a:lnSpc>
                <a:spcPct val="135000"/>
              </a:lnSpc>
              <a:buSzPct val="100000"/>
              <a:buFont typeface="TimesNewRomanPSMT"/>
              <a:buAutoNum type="arabicPeriod"/>
              <a:defRPr sz="2800">
                <a:latin typeface="+mn-lt"/>
                <a:ea typeface="+mn-ea"/>
                <a:cs typeface="+mn-cs"/>
                <a:sym typeface="Helvetica"/>
              </a:defRPr>
            </a:pPr>
            <a:r>
              <a:t>It follows a secure and scalable architecture with role-based access control.</a:t>
            </a:r>
            <a:endParaRPr sz="1900"/>
          </a:p>
          <a:p>
            <a:pPr marL="406400" indent="-101600" defTabSz="12700">
              <a:lnSpc>
                <a:spcPct val="135000"/>
              </a:lnSpc>
              <a:buSzPct val="100000"/>
              <a:buFont typeface="TimesNewRomanPSMT"/>
              <a:buAutoNum type="arabicPeriod"/>
              <a:defRPr sz="2800">
                <a:latin typeface="+mn-lt"/>
                <a:ea typeface="+mn-ea"/>
                <a:cs typeface="+mn-cs"/>
                <a:sym typeface="Helvetica"/>
              </a:defRPr>
            </a:pPr>
            <a:r>
              <a:t>The application features a clean, nature-inspired user interface for better user experience.</a:t>
            </a: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36"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endParaRPr/>
          </a:p>
        </p:txBody>
      </p:sp>
      <p:grpSp>
        <p:nvGrpSpPr>
          <p:cNvPr id="139" name="Group 11"/>
          <p:cNvGrpSpPr/>
          <p:nvPr/>
        </p:nvGrpSpPr>
        <p:grpSpPr>
          <a:xfrm>
            <a:off x="709356" y="2648112"/>
            <a:ext cx="992464" cy="992463"/>
            <a:chOff x="0" y="0"/>
            <a:chExt cx="992462" cy="992462"/>
          </a:xfrm>
        </p:grpSpPr>
        <p:sp>
          <p:nvSpPr>
            <p:cNvPr id="137" name="Freeform 12"/>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138" name="TextBox 13"/>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r>
                <a:t>2</a:t>
              </a:r>
            </a:p>
          </p:txBody>
        </p:sp>
      </p:grpSp>
      <p:grpSp>
        <p:nvGrpSpPr>
          <p:cNvPr id="142" name="Group 14"/>
          <p:cNvGrpSpPr/>
          <p:nvPr/>
        </p:nvGrpSpPr>
        <p:grpSpPr>
          <a:xfrm>
            <a:off x="951508" y="4428295"/>
            <a:ext cx="508159" cy="543806"/>
            <a:chOff x="0" y="0"/>
            <a:chExt cx="508157" cy="543804"/>
          </a:xfrm>
        </p:grpSpPr>
        <p:sp>
          <p:nvSpPr>
            <p:cNvPr id="140"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41"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4</a:t>
              </a:r>
            </a:p>
          </p:txBody>
        </p:sp>
      </p:grpSp>
      <p:grpSp>
        <p:nvGrpSpPr>
          <p:cNvPr id="145" name="Group 17"/>
          <p:cNvGrpSpPr/>
          <p:nvPr/>
        </p:nvGrpSpPr>
        <p:grpSpPr>
          <a:xfrm>
            <a:off x="951508" y="1982348"/>
            <a:ext cx="508159" cy="543806"/>
            <a:chOff x="0" y="0"/>
            <a:chExt cx="508157" cy="543804"/>
          </a:xfrm>
        </p:grpSpPr>
        <p:sp>
          <p:nvSpPr>
            <p:cNvPr id="143"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44"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1</a:t>
              </a:r>
            </a:p>
          </p:txBody>
        </p:sp>
      </p:grpSp>
      <p:grpSp>
        <p:nvGrpSpPr>
          <p:cNvPr id="148" name="Group 20"/>
          <p:cNvGrpSpPr/>
          <p:nvPr/>
        </p:nvGrpSpPr>
        <p:grpSpPr>
          <a:xfrm>
            <a:off x="951508" y="5094058"/>
            <a:ext cx="508159" cy="543806"/>
            <a:chOff x="0" y="0"/>
            <a:chExt cx="508157" cy="543804"/>
          </a:xfrm>
        </p:grpSpPr>
        <p:sp>
          <p:nvSpPr>
            <p:cNvPr id="146"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47"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5</a:t>
              </a:r>
            </a:p>
          </p:txBody>
        </p:sp>
      </p:grpSp>
      <p:grpSp>
        <p:nvGrpSpPr>
          <p:cNvPr id="151" name="Group 23"/>
          <p:cNvGrpSpPr/>
          <p:nvPr/>
        </p:nvGrpSpPr>
        <p:grpSpPr>
          <a:xfrm>
            <a:off x="951508" y="3762533"/>
            <a:ext cx="508159" cy="543806"/>
            <a:chOff x="0" y="0"/>
            <a:chExt cx="508157" cy="543804"/>
          </a:xfrm>
        </p:grpSpPr>
        <p:sp>
          <p:nvSpPr>
            <p:cNvPr id="149"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50"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3</a:t>
              </a:r>
            </a:p>
          </p:txBody>
        </p:sp>
      </p:grpSp>
      <p:grpSp>
        <p:nvGrpSpPr>
          <p:cNvPr id="154" name="Group 26"/>
          <p:cNvGrpSpPr/>
          <p:nvPr/>
        </p:nvGrpSpPr>
        <p:grpSpPr>
          <a:xfrm>
            <a:off x="951508" y="6425584"/>
            <a:ext cx="508159" cy="543806"/>
            <a:chOff x="0" y="0"/>
            <a:chExt cx="508157" cy="543804"/>
          </a:xfrm>
        </p:grpSpPr>
        <p:sp>
          <p:nvSpPr>
            <p:cNvPr id="152"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53"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7</a:t>
              </a:r>
            </a:p>
          </p:txBody>
        </p:sp>
      </p:grpSp>
      <p:grpSp>
        <p:nvGrpSpPr>
          <p:cNvPr id="157" name="Group 29"/>
          <p:cNvGrpSpPr/>
          <p:nvPr/>
        </p:nvGrpSpPr>
        <p:grpSpPr>
          <a:xfrm>
            <a:off x="951508" y="5759822"/>
            <a:ext cx="508159" cy="543806"/>
            <a:chOff x="0" y="0"/>
            <a:chExt cx="508157" cy="543804"/>
          </a:xfrm>
        </p:grpSpPr>
        <p:sp>
          <p:nvSpPr>
            <p:cNvPr id="155"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56"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6</a:t>
              </a:r>
            </a:p>
          </p:txBody>
        </p:sp>
      </p:grpSp>
      <p:grpSp>
        <p:nvGrpSpPr>
          <p:cNvPr id="160" name="Group 36"/>
          <p:cNvGrpSpPr/>
          <p:nvPr/>
        </p:nvGrpSpPr>
        <p:grpSpPr>
          <a:xfrm>
            <a:off x="951508" y="7093215"/>
            <a:ext cx="508159" cy="543806"/>
            <a:chOff x="0" y="0"/>
            <a:chExt cx="508157" cy="543804"/>
          </a:xfrm>
        </p:grpSpPr>
        <p:sp>
          <p:nvSpPr>
            <p:cNvPr id="158" name="Freeform 3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59" name="TextBox 3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8</a:t>
              </a:r>
            </a:p>
          </p:txBody>
        </p:sp>
      </p:grpSp>
      <p:grpSp>
        <p:nvGrpSpPr>
          <p:cNvPr id="163" name="Group 39"/>
          <p:cNvGrpSpPr/>
          <p:nvPr/>
        </p:nvGrpSpPr>
        <p:grpSpPr>
          <a:xfrm>
            <a:off x="951508" y="7760845"/>
            <a:ext cx="508159" cy="543806"/>
            <a:chOff x="0" y="0"/>
            <a:chExt cx="508157" cy="543804"/>
          </a:xfrm>
        </p:grpSpPr>
        <p:sp>
          <p:nvSpPr>
            <p:cNvPr id="161" name="Freeform 4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62" name="TextBox 4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9</a:t>
              </a:r>
            </a:p>
          </p:txBody>
        </p:sp>
      </p:grpSp>
      <p:sp>
        <p:nvSpPr>
          <p:cNvPr id="164" name="TextBox 46"/>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4800" b="1">
                <a:solidFill>
                  <a:srgbClr val="0033CC"/>
                </a:solidFill>
                <a:latin typeface="Times New Roman"/>
                <a:ea typeface="Times New Roman"/>
                <a:cs typeface="Times New Roman"/>
                <a:sym typeface="Times New Roman"/>
              </a:defRPr>
            </a:lvl1pPr>
          </a:lstStyle>
          <a:p>
            <a:r>
              <a:t>PROBLEM STATEMENT</a:t>
            </a:r>
          </a:p>
        </p:txBody>
      </p:sp>
      <p:sp>
        <p:nvSpPr>
          <p:cNvPr id="165" name="TextBox 47"/>
          <p:cNvSpPr txBox="1"/>
          <p:nvPr/>
        </p:nvSpPr>
        <p:spPr>
          <a:xfrm>
            <a:off x="2255519" y="1638299"/>
            <a:ext cx="14990886" cy="152702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000">
                <a:solidFill>
                  <a:srgbClr val="111111"/>
                </a:solidFill>
                <a:latin typeface="+mn-lt"/>
                <a:ea typeface="+mn-ea"/>
                <a:cs typeface="+mn-cs"/>
                <a:sym typeface="Helvetica"/>
              </a:defRPr>
            </a:pPr>
            <a:r>
              <a:t>Managing campus events through manual or scattered systems leads to inefficiencies and confusion among students and organizers. There is often no centralized platform where students can easily discover upcoming events and register for them. Event organizers face difficulties in creating, updating, and promoting events effectively. Communication gaps between students and organizers result in low participation and missed opportunities. Existing systems lack proper role-based access, making it hard to control and manage different user responsibilities. Additionally, tracking registrations and maintaining event data manually is time-consuming and error-prone. There is also a lack of real-time updates and analytics to monitor event performance. Security concerns arise due to improper handling of user data and authentication. Without a structured system, duplication of data and mismanagement of event schedules occur frequently. Therefore, there is a need for a centralized, secure, and efficient web-based solution to manage campus events effectively.</a:t>
            </a:r>
          </a:p>
          <a:p>
            <a:pPr marL="457199" indent="-457199">
              <a:buSzPct val="100000"/>
              <a:buChar char="-"/>
              <a:defRPr sz="3000"/>
            </a:pPr>
            <a:endParaRPr/>
          </a:p>
          <a:p>
            <a:pPr marL="457199" indent="-457199">
              <a:buSzPct val="100000"/>
              <a:buChar char="-"/>
              <a:defRPr sz="3000"/>
            </a:pPr>
            <a:endParaRPr/>
          </a:p>
          <a:p>
            <a:pPr marL="457199" indent="-457199">
              <a:buSzPct val="100000"/>
              <a:buChar char="-"/>
              <a:defRPr sz="3000"/>
            </a:pPr>
            <a:endParaRPr/>
          </a:p>
          <a:p>
            <a:pPr marL="457199" indent="-457199">
              <a:buSzPct val="100000"/>
              <a:buChar char="-"/>
              <a:defRPr sz="3000"/>
            </a:pPr>
            <a:endParaRPr/>
          </a:p>
          <a:p>
            <a:pPr marL="457199" indent="-457199">
              <a:buSzPct val="100000"/>
              <a:buChar char="-"/>
              <a:defRPr sz="3000"/>
            </a:pPr>
            <a:endParaRPr/>
          </a:p>
          <a:p>
            <a:pPr marL="457199" indent="-457199">
              <a:buSzPct val="100000"/>
              <a:buChar char="-"/>
              <a:defRPr sz="3000"/>
            </a:pPr>
            <a:endParaRPr/>
          </a:p>
          <a:p>
            <a:pPr marL="457199" indent="-457199">
              <a:buSzPct val="100000"/>
              <a:buChar char="-"/>
              <a:defRPr sz="3000"/>
            </a:pPr>
            <a:endParaRPr/>
          </a:p>
          <a:p>
            <a:pPr marL="457199" indent="-457199">
              <a:buSzPct val="100000"/>
              <a:buChar char="-"/>
              <a:defRPr sz="3000"/>
            </a:pPr>
            <a:endParaRPr/>
          </a:p>
          <a:p>
            <a:pPr marL="457199" indent="-457199">
              <a:buSzPct val="100000"/>
              <a:buChar char="-"/>
              <a:defRPr sz="3000"/>
            </a:pPr>
            <a:endParaRPr/>
          </a:p>
          <a:p>
            <a:pPr marL="457199" indent="-457199">
              <a:buSzPct val="100000"/>
              <a:buChar char="-"/>
              <a:defRPr sz="3000"/>
            </a:pPr>
            <a:endParaRPr/>
          </a:p>
          <a:p>
            <a:pPr marL="457199" indent="-457199">
              <a:buSzPct val="100000"/>
              <a:buChar char="-"/>
              <a:defRPr sz="3000"/>
            </a:pPr>
            <a:endParaRPr/>
          </a:p>
          <a:p>
            <a:pPr marL="457199" indent="-457199">
              <a:buSzPct val="100000"/>
              <a:buChar char="-"/>
              <a:defRPr sz="3000"/>
            </a:pPr>
            <a:endParaRPr/>
          </a:p>
          <a:p>
            <a:pPr marL="457199" indent="-457199">
              <a:buSzPct val="100000"/>
              <a:buChar char="-"/>
              <a:defRPr sz="3000"/>
            </a:pPr>
            <a:endParaRPr/>
          </a:p>
          <a:p>
            <a:pPr marL="457199" indent="-457199">
              <a:buSzPct val="100000"/>
              <a:buChar char="-"/>
              <a:defRPr sz="3000"/>
            </a:pPr>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69" name="Group 7"/>
          <p:cNvGrpSpPr/>
          <p:nvPr/>
        </p:nvGrpSpPr>
        <p:grpSpPr>
          <a:xfrm>
            <a:off x="709356" y="3315742"/>
            <a:ext cx="992464" cy="992464"/>
            <a:chOff x="0" y="0"/>
            <a:chExt cx="992462" cy="992462"/>
          </a:xfrm>
        </p:grpSpPr>
        <p:sp>
          <p:nvSpPr>
            <p:cNvPr id="167"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168" name="TextBox 9"/>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r>
                <a:t>3</a:t>
              </a:r>
            </a:p>
          </p:txBody>
        </p:sp>
      </p:grpSp>
      <p:grpSp>
        <p:nvGrpSpPr>
          <p:cNvPr id="172" name="Group 10"/>
          <p:cNvGrpSpPr/>
          <p:nvPr/>
        </p:nvGrpSpPr>
        <p:grpSpPr>
          <a:xfrm>
            <a:off x="951508" y="4428295"/>
            <a:ext cx="508159" cy="543806"/>
            <a:chOff x="0" y="0"/>
            <a:chExt cx="508157" cy="543804"/>
          </a:xfrm>
        </p:grpSpPr>
        <p:sp>
          <p:nvSpPr>
            <p:cNvPr id="170"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71"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4</a:t>
              </a:r>
            </a:p>
          </p:txBody>
        </p:sp>
      </p:grpSp>
      <p:grpSp>
        <p:nvGrpSpPr>
          <p:cNvPr id="175" name="Group 13"/>
          <p:cNvGrpSpPr/>
          <p:nvPr/>
        </p:nvGrpSpPr>
        <p:grpSpPr>
          <a:xfrm>
            <a:off x="951508" y="1982348"/>
            <a:ext cx="508159" cy="543806"/>
            <a:chOff x="0" y="0"/>
            <a:chExt cx="508157" cy="543804"/>
          </a:xfrm>
        </p:grpSpPr>
        <p:sp>
          <p:nvSpPr>
            <p:cNvPr id="173"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74"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1</a:t>
              </a:r>
            </a:p>
          </p:txBody>
        </p:sp>
      </p:grpSp>
      <p:grpSp>
        <p:nvGrpSpPr>
          <p:cNvPr id="178" name="Group 16"/>
          <p:cNvGrpSpPr/>
          <p:nvPr/>
        </p:nvGrpSpPr>
        <p:grpSpPr>
          <a:xfrm>
            <a:off x="951508" y="5094058"/>
            <a:ext cx="508159" cy="543806"/>
            <a:chOff x="0" y="0"/>
            <a:chExt cx="508157" cy="543804"/>
          </a:xfrm>
        </p:grpSpPr>
        <p:sp>
          <p:nvSpPr>
            <p:cNvPr id="176"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77"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5</a:t>
              </a:r>
            </a:p>
          </p:txBody>
        </p:sp>
      </p:grpSp>
      <p:grpSp>
        <p:nvGrpSpPr>
          <p:cNvPr id="181" name="Group 19"/>
          <p:cNvGrpSpPr/>
          <p:nvPr/>
        </p:nvGrpSpPr>
        <p:grpSpPr>
          <a:xfrm>
            <a:off x="951508" y="2648112"/>
            <a:ext cx="508159" cy="543806"/>
            <a:chOff x="0" y="0"/>
            <a:chExt cx="508157" cy="543804"/>
          </a:xfrm>
        </p:grpSpPr>
        <p:sp>
          <p:nvSpPr>
            <p:cNvPr id="179"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80"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2</a:t>
              </a:r>
            </a:p>
          </p:txBody>
        </p:sp>
      </p:grpSp>
      <p:grpSp>
        <p:nvGrpSpPr>
          <p:cNvPr id="184" name="Group 22"/>
          <p:cNvGrpSpPr/>
          <p:nvPr/>
        </p:nvGrpSpPr>
        <p:grpSpPr>
          <a:xfrm>
            <a:off x="951508" y="6425584"/>
            <a:ext cx="508159" cy="543806"/>
            <a:chOff x="0" y="0"/>
            <a:chExt cx="508157" cy="543804"/>
          </a:xfrm>
        </p:grpSpPr>
        <p:sp>
          <p:nvSpPr>
            <p:cNvPr id="182"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83"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7</a:t>
              </a:r>
            </a:p>
          </p:txBody>
        </p:sp>
      </p:grpSp>
      <p:grpSp>
        <p:nvGrpSpPr>
          <p:cNvPr id="187" name="Group 25"/>
          <p:cNvGrpSpPr/>
          <p:nvPr/>
        </p:nvGrpSpPr>
        <p:grpSpPr>
          <a:xfrm>
            <a:off x="951508" y="5759822"/>
            <a:ext cx="508159" cy="543806"/>
            <a:chOff x="0" y="0"/>
            <a:chExt cx="508157" cy="543804"/>
          </a:xfrm>
        </p:grpSpPr>
        <p:sp>
          <p:nvSpPr>
            <p:cNvPr id="185"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86"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6</a:t>
              </a:r>
            </a:p>
          </p:txBody>
        </p:sp>
      </p:grpSp>
      <p:grpSp>
        <p:nvGrpSpPr>
          <p:cNvPr id="190" name="Group 41"/>
          <p:cNvGrpSpPr/>
          <p:nvPr/>
        </p:nvGrpSpPr>
        <p:grpSpPr>
          <a:xfrm>
            <a:off x="951508" y="7093215"/>
            <a:ext cx="508159" cy="543806"/>
            <a:chOff x="0" y="0"/>
            <a:chExt cx="508157" cy="543804"/>
          </a:xfrm>
        </p:grpSpPr>
        <p:sp>
          <p:nvSpPr>
            <p:cNvPr id="188" name="Freeform 4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89" name="TextBox 4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8</a:t>
              </a:r>
            </a:p>
          </p:txBody>
        </p:sp>
      </p:grpSp>
      <p:grpSp>
        <p:nvGrpSpPr>
          <p:cNvPr id="193" name="Group 44"/>
          <p:cNvGrpSpPr/>
          <p:nvPr/>
        </p:nvGrpSpPr>
        <p:grpSpPr>
          <a:xfrm>
            <a:off x="951508" y="7760845"/>
            <a:ext cx="508159" cy="543806"/>
            <a:chOff x="0" y="0"/>
            <a:chExt cx="508157" cy="543804"/>
          </a:xfrm>
        </p:grpSpPr>
        <p:sp>
          <p:nvSpPr>
            <p:cNvPr id="191" name="Freeform 4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192" name="TextBox 4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9</a:t>
              </a:r>
            </a:p>
          </p:txBody>
        </p:sp>
      </p:grpSp>
      <p:sp>
        <p:nvSpPr>
          <p:cNvPr id="194" name="TextBox 49"/>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4800" b="1">
                <a:solidFill>
                  <a:srgbClr val="0033CC"/>
                </a:solidFill>
                <a:latin typeface="Times New Roman"/>
                <a:ea typeface="Times New Roman"/>
                <a:cs typeface="Times New Roman"/>
                <a:sym typeface="Times New Roman"/>
              </a:defRPr>
            </a:lvl1pPr>
          </a:lstStyle>
          <a:p>
            <a:r>
              <a:t>OBJECTIVE(S)</a:t>
            </a:r>
          </a:p>
        </p:txBody>
      </p:sp>
      <p:sp>
        <p:nvSpPr>
          <p:cNvPr id="195"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endParaRPr/>
          </a:p>
        </p:txBody>
      </p:sp>
      <p:sp>
        <p:nvSpPr>
          <p:cNvPr id="196" name="TextBox 51"/>
          <p:cNvSpPr txBox="1"/>
          <p:nvPr/>
        </p:nvSpPr>
        <p:spPr>
          <a:xfrm>
            <a:off x="2255519" y="1638299"/>
            <a:ext cx="14990886" cy="86158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n-lt"/>
                <a:ea typeface="+mn-ea"/>
                <a:cs typeface="+mn-cs"/>
                <a:sym typeface="Helvetica"/>
              </a:defRPr>
            </a:pPr>
            <a:r>
              <a:t>The primary objective of this project is to develop a centralized web-based platform for managing campus events efficiently. It aims to simplify the process of event creation, browsing, and registration for students and organizers. The system ensures smooth coordination between users by providing real-time access to event information. It also focuses on improving user experience through a clean and intuitive interface.</a:t>
            </a:r>
            <a:endParaRPr sz="17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n-lt"/>
                <a:ea typeface="+mn-ea"/>
                <a:cs typeface="+mn-cs"/>
                <a:sym typeface="Helvetica"/>
              </a:defRPr>
            </a:pPr>
            <a:endParaRPr sz="170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n-lt"/>
                <a:ea typeface="+mn-ea"/>
                <a:cs typeface="+mn-cs"/>
                <a:sym typeface="Helvetica"/>
              </a:defRPr>
            </a:pPr>
            <a:r>
              <a:t>Another objective is to implement a secure and scalable system using Spring Boot and JPA ORM for efficient data management. The project emphasizes role-based access control to manage different user responsibilities effectively. It aims to reduce manual effort and errors by automating event handling processes. Additionally, the system seeks to provide insights and analytics to enhance decision-making and event planning.</a:t>
            </a:r>
            <a:endParaRPr sz="3300"/>
          </a:p>
          <a:p>
            <a:pPr marL="457200" indent="-457200">
              <a:buSzPct val="100000"/>
              <a:buChar char="-"/>
              <a:defRPr sz="3300"/>
            </a:pPr>
            <a:endParaRPr sz="3300"/>
          </a:p>
          <a:p>
            <a:pPr marL="457200" indent="-457200">
              <a:buSzPct val="100000"/>
              <a:buChar char="-"/>
              <a:defRPr sz="3300"/>
            </a:pPr>
            <a:endParaRPr sz="3300"/>
          </a:p>
          <a:p>
            <a:pPr marL="457200" indent="-457200">
              <a:buSzPct val="100000"/>
              <a:buChar char="-"/>
              <a:defRPr sz="3300"/>
            </a:pPr>
            <a:endParaRPr sz="3300"/>
          </a:p>
          <a:p>
            <a:pPr marL="457200" indent="-457200">
              <a:buSzPct val="100000"/>
              <a:buChar char="-"/>
              <a:defRPr sz="3300"/>
            </a:pPr>
            <a:endParaRPr sz="3300"/>
          </a:p>
          <a:p>
            <a:pPr marL="457200" indent="-457200">
              <a:buSzPct val="100000"/>
              <a:buChar char="-"/>
              <a:defRPr sz="3300"/>
            </a:pPr>
            <a:endParaRPr sz="330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00" name="Group 13"/>
          <p:cNvGrpSpPr/>
          <p:nvPr/>
        </p:nvGrpSpPr>
        <p:grpSpPr>
          <a:xfrm>
            <a:off x="709356" y="3983373"/>
            <a:ext cx="992464" cy="992464"/>
            <a:chOff x="0" y="0"/>
            <a:chExt cx="992462" cy="992462"/>
          </a:xfrm>
        </p:grpSpPr>
        <p:sp>
          <p:nvSpPr>
            <p:cNvPr id="198" name="Freeform 14"/>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199" name="TextBox 15"/>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r>
                <a:t>4</a:t>
              </a:r>
            </a:p>
          </p:txBody>
        </p:sp>
      </p:grpSp>
      <p:grpSp>
        <p:nvGrpSpPr>
          <p:cNvPr id="203" name="Group 16"/>
          <p:cNvGrpSpPr/>
          <p:nvPr/>
        </p:nvGrpSpPr>
        <p:grpSpPr>
          <a:xfrm>
            <a:off x="951508" y="3315742"/>
            <a:ext cx="508159" cy="543806"/>
            <a:chOff x="0" y="0"/>
            <a:chExt cx="508157" cy="543804"/>
          </a:xfrm>
        </p:grpSpPr>
        <p:sp>
          <p:nvSpPr>
            <p:cNvPr id="201"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02"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3</a:t>
              </a:r>
            </a:p>
          </p:txBody>
        </p:sp>
      </p:grpSp>
      <p:grpSp>
        <p:nvGrpSpPr>
          <p:cNvPr id="206" name="Group 19"/>
          <p:cNvGrpSpPr/>
          <p:nvPr/>
        </p:nvGrpSpPr>
        <p:grpSpPr>
          <a:xfrm>
            <a:off x="951508" y="1982348"/>
            <a:ext cx="508159" cy="543806"/>
            <a:chOff x="0" y="0"/>
            <a:chExt cx="508157" cy="543804"/>
          </a:xfrm>
        </p:grpSpPr>
        <p:sp>
          <p:nvSpPr>
            <p:cNvPr id="204"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05"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1</a:t>
              </a:r>
            </a:p>
          </p:txBody>
        </p:sp>
      </p:grpSp>
      <p:grpSp>
        <p:nvGrpSpPr>
          <p:cNvPr id="209" name="Group 22"/>
          <p:cNvGrpSpPr/>
          <p:nvPr/>
        </p:nvGrpSpPr>
        <p:grpSpPr>
          <a:xfrm>
            <a:off x="951508" y="5094058"/>
            <a:ext cx="508159" cy="543806"/>
            <a:chOff x="0" y="0"/>
            <a:chExt cx="508157" cy="543804"/>
          </a:xfrm>
        </p:grpSpPr>
        <p:sp>
          <p:nvSpPr>
            <p:cNvPr id="207"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08"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5</a:t>
              </a:r>
            </a:p>
          </p:txBody>
        </p:sp>
      </p:grpSp>
      <p:grpSp>
        <p:nvGrpSpPr>
          <p:cNvPr id="212" name="Group 25"/>
          <p:cNvGrpSpPr/>
          <p:nvPr/>
        </p:nvGrpSpPr>
        <p:grpSpPr>
          <a:xfrm>
            <a:off x="951508" y="2648112"/>
            <a:ext cx="508159" cy="543806"/>
            <a:chOff x="0" y="0"/>
            <a:chExt cx="508157" cy="543804"/>
          </a:xfrm>
        </p:grpSpPr>
        <p:sp>
          <p:nvSpPr>
            <p:cNvPr id="210"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11"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2</a:t>
              </a:r>
            </a:p>
          </p:txBody>
        </p:sp>
      </p:grpSp>
      <p:grpSp>
        <p:nvGrpSpPr>
          <p:cNvPr id="215" name="Group 28"/>
          <p:cNvGrpSpPr/>
          <p:nvPr/>
        </p:nvGrpSpPr>
        <p:grpSpPr>
          <a:xfrm>
            <a:off x="951508" y="6425584"/>
            <a:ext cx="508159" cy="543806"/>
            <a:chOff x="0" y="0"/>
            <a:chExt cx="508157" cy="543804"/>
          </a:xfrm>
        </p:grpSpPr>
        <p:sp>
          <p:nvSpPr>
            <p:cNvPr id="213"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14"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7</a:t>
              </a:r>
            </a:p>
          </p:txBody>
        </p:sp>
      </p:grpSp>
      <p:grpSp>
        <p:nvGrpSpPr>
          <p:cNvPr id="218" name="Group 31"/>
          <p:cNvGrpSpPr/>
          <p:nvPr/>
        </p:nvGrpSpPr>
        <p:grpSpPr>
          <a:xfrm>
            <a:off x="951508" y="5759822"/>
            <a:ext cx="508159" cy="543806"/>
            <a:chOff x="0" y="0"/>
            <a:chExt cx="508157" cy="543804"/>
          </a:xfrm>
        </p:grpSpPr>
        <p:sp>
          <p:nvSpPr>
            <p:cNvPr id="216"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17"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6</a:t>
              </a:r>
            </a:p>
          </p:txBody>
        </p:sp>
      </p:grpSp>
      <p:grpSp>
        <p:nvGrpSpPr>
          <p:cNvPr id="221" name="Group 34"/>
          <p:cNvGrpSpPr/>
          <p:nvPr/>
        </p:nvGrpSpPr>
        <p:grpSpPr>
          <a:xfrm>
            <a:off x="951508" y="7093215"/>
            <a:ext cx="508159" cy="543806"/>
            <a:chOff x="0" y="0"/>
            <a:chExt cx="508157" cy="543804"/>
          </a:xfrm>
        </p:grpSpPr>
        <p:sp>
          <p:nvSpPr>
            <p:cNvPr id="219" name="Freeform 3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20" name="TextBox 3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8</a:t>
              </a:r>
            </a:p>
          </p:txBody>
        </p:sp>
      </p:grpSp>
      <p:grpSp>
        <p:nvGrpSpPr>
          <p:cNvPr id="224" name="Group 37"/>
          <p:cNvGrpSpPr/>
          <p:nvPr/>
        </p:nvGrpSpPr>
        <p:grpSpPr>
          <a:xfrm>
            <a:off x="951508" y="7760845"/>
            <a:ext cx="508159" cy="543806"/>
            <a:chOff x="0" y="0"/>
            <a:chExt cx="508157" cy="543804"/>
          </a:xfrm>
        </p:grpSpPr>
        <p:sp>
          <p:nvSpPr>
            <p:cNvPr id="222"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23"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9</a:t>
              </a:r>
            </a:p>
          </p:txBody>
        </p:sp>
      </p:grpSp>
      <p:sp>
        <p:nvSpPr>
          <p:cNvPr id="225"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endParaRPr/>
          </a:p>
        </p:txBody>
      </p:sp>
      <p:sp>
        <p:nvSpPr>
          <p:cNvPr id="226" name="TextBox 45"/>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4800" b="1">
                <a:solidFill>
                  <a:srgbClr val="0033CC"/>
                </a:solidFill>
                <a:latin typeface="Times New Roman"/>
                <a:ea typeface="Times New Roman"/>
                <a:cs typeface="Times New Roman"/>
                <a:sym typeface="Times New Roman"/>
              </a:defRPr>
            </a:lvl1pPr>
          </a:lstStyle>
          <a:p>
            <a:r>
              <a:t>PROPOSED SYSTEM</a:t>
            </a:r>
          </a:p>
        </p:txBody>
      </p:sp>
      <p:sp>
        <p:nvSpPr>
          <p:cNvPr id="227" name="TextBox 47"/>
          <p:cNvSpPr txBox="1"/>
          <p:nvPr/>
        </p:nvSpPr>
        <p:spPr>
          <a:xfrm>
            <a:off x="2255519" y="1638299"/>
            <a:ext cx="14990886" cy="14083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165100" indent="-165100" defTabSz="12700">
              <a:lnSpc>
                <a:spcPct val="135000"/>
              </a:lnSpc>
              <a:spcBef>
                <a:spcPts val="1200"/>
              </a:spcBef>
              <a:tabLst>
                <a:tab pos="63500" algn="r"/>
                <a:tab pos="165100" algn="l"/>
              </a:tabLst>
              <a:defRPr sz="3400">
                <a:solidFill>
                  <a:srgbClr val="111111"/>
                </a:solidFill>
                <a:latin typeface="+mn-lt"/>
                <a:ea typeface="+mn-ea"/>
                <a:cs typeface="+mn-cs"/>
                <a:sym typeface="Helvetica"/>
              </a:defRPr>
            </a:pPr>
            <a:r>
              <a:t>	Develop a centralized web-based application to manage all campus events in one platform.</a:t>
            </a:r>
            <a:endParaRPr sz="1800"/>
          </a:p>
          <a:p>
            <a:pPr marL="406400" indent="-101600" defTabSz="12700">
              <a:lnSpc>
                <a:spcPct val="135000"/>
              </a:lnSpc>
              <a:buSzPct val="100000"/>
              <a:buFont typeface="TimesNewRomanPSMT"/>
              <a:buAutoNum type="arabicPeriod"/>
              <a:defRPr sz="2700">
                <a:latin typeface="+mn-lt"/>
                <a:ea typeface="+mn-ea"/>
                <a:cs typeface="+mn-cs"/>
                <a:sym typeface="Helvetica"/>
              </a:defRPr>
            </a:pPr>
            <a:r>
              <a:t>Provide role-based access control with three roles: User (Student), Publisher, and Host (Admin).</a:t>
            </a:r>
            <a:endParaRPr sz="1800"/>
          </a:p>
          <a:p>
            <a:pPr marL="406400" indent="-101600" defTabSz="12700">
              <a:lnSpc>
                <a:spcPct val="135000"/>
              </a:lnSpc>
              <a:buSzPct val="100000"/>
              <a:buFont typeface="TimesNewRomanPSMT"/>
              <a:buAutoNum type="arabicPeriod"/>
              <a:defRPr sz="2700">
                <a:latin typeface="+mn-lt"/>
                <a:ea typeface="+mn-ea"/>
                <a:cs typeface="+mn-cs"/>
                <a:sym typeface="Helvetica"/>
              </a:defRPr>
            </a:pPr>
            <a:r>
              <a:t>Enable students to browse, search, and register for events بسهولة and track their participation.</a:t>
            </a:r>
            <a:endParaRPr sz="1800"/>
          </a:p>
          <a:p>
            <a:pPr marL="406400" indent="-101600" defTabSz="12700">
              <a:lnSpc>
                <a:spcPct val="135000"/>
              </a:lnSpc>
              <a:buSzPct val="100000"/>
              <a:buFont typeface="TimesNewRomanPSMT"/>
              <a:buAutoNum type="arabicPeriod"/>
              <a:defRPr sz="2700">
                <a:latin typeface="+mn-lt"/>
                <a:ea typeface="+mn-ea"/>
                <a:cs typeface="+mn-cs"/>
                <a:sym typeface="Helvetica"/>
              </a:defRPr>
            </a:pPr>
            <a:r>
              <a:t>Allow publishers to create, update, and manage event details through a structured interface.</a:t>
            </a:r>
            <a:endParaRPr sz="1800"/>
          </a:p>
          <a:p>
            <a:pPr marL="406400" indent="-101600" defTabSz="12700">
              <a:lnSpc>
                <a:spcPct val="135000"/>
              </a:lnSpc>
              <a:buSzPct val="100000"/>
              <a:buFont typeface="TimesNewRomanPSMT"/>
              <a:buAutoNum type="arabicPeriod"/>
              <a:defRPr sz="2700">
                <a:latin typeface="+mn-lt"/>
                <a:ea typeface="+mn-ea"/>
                <a:cs typeface="+mn-cs"/>
                <a:sym typeface="Helvetica"/>
              </a:defRPr>
            </a:pPr>
            <a:r>
              <a:t>Implement an approval system where hosts can approve or reject events created by publishers.</a:t>
            </a:r>
            <a:endParaRPr sz="1800"/>
          </a:p>
          <a:p>
            <a:pPr marL="406400" indent="-101600" defTabSz="12700">
              <a:lnSpc>
                <a:spcPct val="135000"/>
              </a:lnSpc>
              <a:buSzPct val="100000"/>
              <a:buFont typeface="TimesNewRomanPSMT"/>
              <a:buAutoNum type="arabicPeriod"/>
              <a:defRPr sz="2700">
                <a:latin typeface="+mn-lt"/>
                <a:ea typeface="+mn-ea"/>
                <a:cs typeface="+mn-cs"/>
                <a:sym typeface="Helvetica"/>
              </a:defRPr>
            </a:pPr>
            <a:r>
              <a:t>Use Spring Boot with Spring Data JPA (ORM) for efficient data handling and database interaction.</a:t>
            </a:r>
            <a:endParaRPr sz="1800"/>
          </a:p>
          <a:p>
            <a:pPr marL="406400" indent="-101600" defTabSz="12700">
              <a:lnSpc>
                <a:spcPct val="135000"/>
              </a:lnSpc>
              <a:buSzPct val="100000"/>
              <a:buFont typeface="TimesNewRomanPSMT"/>
              <a:buAutoNum type="arabicPeriod"/>
              <a:defRPr sz="2700">
                <a:latin typeface="+mn-lt"/>
                <a:ea typeface="+mn-ea"/>
                <a:cs typeface="+mn-cs"/>
                <a:sym typeface="Helvetica"/>
              </a:defRPr>
            </a:pPr>
            <a:r>
              <a:t>Incorporate secure authentication and authorization using Spring Security.</a:t>
            </a:r>
            <a:endParaRPr sz="1800"/>
          </a:p>
          <a:p>
            <a:pPr marL="406400" indent="-101600" defTabSz="12700">
              <a:lnSpc>
                <a:spcPct val="135000"/>
              </a:lnSpc>
              <a:buSzPct val="100000"/>
              <a:buFont typeface="TimesNewRomanPSMT"/>
              <a:buAutoNum type="arabicPeriod"/>
              <a:defRPr sz="2700">
                <a:latin typeface="+mn-lt"/>
                <a:ea typeface="+mn-ea"/>
                <a:cs typeface="+mn-cs"/>
                <a:sym typeface="Helvetica"/>
              </a:defRPr>
            </a:pPr>
            <a:r>
              <a:t>Provide analytics and reports for hosts to monitor event registrations and overall system performance.</a:t>
            </a:r>
            <a:endParaRPr sz="3400"/>
          </a:p>
          <a:p>
            <a:pPr marL="457200" indent="-457200">
              <a:buSzPct val="100000"/>
              <a:buChar char="-"/>
              <a:defRPr sz="3400"/>
            </a:pPr>
            <a:endParaRPr sz="3400"/>
          </a:p>
          <a:p>
            <a:pPr marL="457200" indent="-457200">
              <a:buSzPct val="100000"/>
              <a:buChar char="-"/>
              <a:defRPr sz="3400"/>
            </a:pPr>
            <a:endParaRPr sz="3400"/>
          </a:p>
          <a:p>
            <a:pPr marL="457200" indent="-457200">
              <a:buSzPct val="100000"/>
              <a:buChar char="-"/>
              <a:defRPr sz="3400"/>
            </a:pPr>
            <a:endParaRPr sz="3400"/>
          </a:p>
          <a:p>
            <a:pPr marL="457200" indent="-457200">
              <a:buSzPct val="100000"/>
              <a:buChar char="-"/>
              <a:defRPr sz="3400"/>
            </a:pPr>
            <a:endParaRPr sz="3400"/>
          </a:p>
          <a:p>
            <a:pPr marL="457200" indent="-457200">
              <a:buSzPct val="100000"/>
              <a:buChar char="-"/>
              <a:defRPr sz="3400"/>
            </a:pPr>
            <a:endParaRPr sz="3400"/>
          </a:p>
          <a:p>
            <a:pPr marL="457200" indent="-457200">
              <a:buSzPct val="100000"/>
              <a:buChar char="-"/>
              <a:defRPr sz="3400"/>
            </a:pPr>
            <a:endParaRPr sz="3400"/>
          </a:p>
          <a:p>
            <a:pPr marL="457200" indent="-457200">
              <a:buSzPct val="100000"/>
              <a:buChar char="-"/>
              <a:defRPr sz="3400"/>
            </a:pPr>
            <a:endParaRPr sz="3400"/>
          </a:p>
          <a:p>
            <a:pPr marL="457200" indent="-457200">
              <a:buSzPct val="100000"/>
              <a:buChar char="-"/>
              <a:defRPr sz="3400"/>
            </a:pPr>
            <a:endParaRPr sz="3400"/>
          </a:p>
          <a:p>
            <a:pPr marL="457200" indent="-457200">
              <a:buSzPct val="100000"/>
              <a:buChar char="-"/>
              <a:defRPr sz="3400"/>
            </a:pPr>
            <a:endParaRPr sz="3400"/>
          </a:p>
          <a:p>
            <a:pPr marL="457200" indent="-457200">
              <a:buSzPct val="100000"/>
              <a:buChar char="-"/>
              <a:defRPr sz="3400"/>
            </a:pPr>
            <a:endParaRPr sz="3400"/>
          </a:p>
          <a:p>
            <a:pPr marL="457200" indent="-457200">
              <a:buSzPct val="100000"/>
              <a:buChar char="-"/>
              <a:defRPr sz="3400"/>
            </a:pPr>
            <a:endParaRPr sz="340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31" name="Group 5"/>
          <p:cNvGrpSpPr/>
          <p:nvPr/>
        </p:nvGrpSpPr>
        <p:grpSpPr>
          <a:xfrm>
            <a:off x="709356" y="4655765"/>
            <a:ext cx="992464" cy="992464"/>
            <a:chOff x="0" y="0"/>
            <a:chExt cx="992462" cy="992462"/>
          </a:xfrm>
        </p:grpSpPr>
        <p:sp>
          <p:nvSpPr>
            <p:cNvPr id="229" name="Freeform 6"/>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230" name="TextBox 7"/>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r>
                <a:t>5</a:t>
              </a:r>
            </a:p>
          </p:txBody>
        </p:sp>
      </p:grpSp>
      <p:grpSp>
        <p:nvGrpSpPr>
          <p:cNvPr id="234" name="Group 8"/>
          <p:cNvGrpSpPr/>
          <p:nvPr/>
        </p:nvGrpSpPr>
        <p:grpSpPr>
          <a:xfrm>
            <a:off x="951508" y="3320505"/>
            <a:ext cx="508159" cy="543806"/>
            <a:chOff x="0" y="0"/>
            <a:chExt cx="508157" cy="543804"/>
          </a:xfrm>
        </p:grpSpPr>
        <p:sp>
          <p:nvSpPr>
            <p:cNvPr id="232" name="Freeform 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33" name="TextBox 1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3</a:t>
              </a:r>
            </a:p>
          </p:txBody>
        </p:sp>
      </p:grpSp>
      <p:grpSp>
        <p:nvGrpSpPr>
          <p:cNvPr id="237" name="Group 11"/>
          <p:cNvGrpSpPr/>
          <p:nvPr/>
        </p:nvGrpSpPr>
        <p:grpSpPr>
          <a:xfrm>
            <a:off x="951508" y="1987111"/>
            <a:ext cx="508159" cy="543806"/>
            <a:chOff x="0" y="0"/>
            <a:chExt cx="508157" cy="543804"/>
          </a:xfrm>
        </p:grpSpPr>
        <p:sp>
          <p:nvSpPr>
            <p:cNvPr id="235" name="Freeform 1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36" name="TextBox 1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1</a:t>
              </a:r>
            </a:p>
          </p:txBody>
        </p:sp>
      </p:grpSp>
      <p:grpSp>
        <p:nvGrpSpPr>
          <p:cNvPr id="240" name="Group 14"/>
          <p:cNvGrpSpPr/>
          <p:nvPr/>
        </p:nvGrpSpPr>
        <p:grpSpPr>
          <a:xfrm>
            <a:off x="951508" y="3988134"/>
            <a:ext cx="508159" cy="543806"/>
            <a:chOff x="0" y="0"/>
            <a:chExt cx="508157" cy="543804"/>
          </a:xfrm>
        </p:grpSpPr>
        <p:sp>
          <p:nvSpPr>
            <p:cNvPr id="238"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39"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4</a:t>
              </a:r>
            </a:p>
          </p:txBody>
        </p:sp>
      </p:grpSp>
      <p:grpSp>
        <p:nvGrpSpPr>
          <p:cNvPr id="243" name="Group 17"/>
          <p:cNvGrpSpPr/>
          <p:nvPr/>
        </p:nvGrpSpPr>
        <p:grpSpPr>
          <a:xfrm>
            <a:off x="951508" y="2652873"/>
            <a:ext cx="508159" cy="543806"/>
            <a:chOff x="0" y="0"/>
            <a:chExt cx="508157" cy="543804"/>
          </a:xfrm>
        </p:grpSpPr>
        <p:sp>
          <p:nvSpPr>
            <p:cNvPr id="241"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42"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2</a:t>
              </a:r>
            </a:p>
          </p:txBody>
        </p:sp>
      </p:grpSp>
      <p:grpSp>
        <p:nvGrpSpPr>
          <p:cNvPr id="246" name="Group 20"/>
          <p:cNvGrpSpPr/>
          <p:nvPr/>
        </p:nvGrpSpPr>
        <p:grpSpPr>
          <a:xfrm>
            <a:off x="951508" y="6430347"/>
            <a:ext cx="508159" cy="543806"/>
            <a:chOff x="0" y="0"/>
            <a:chExt cx="508157" cy="543804"/>
          </a:xfrm>
        </p:grpSpPr>
        <p:sp>
          <p:nvSpPr>
            <p:cNvPr id="244"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45"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7</a:t>
              </a:r>
            </a:p>
          </p:txBody>
        </p:sp>
      </p:grpSp>
      <p:grpSp>
        <p:nvGrpSpPr>
          <p:cNvPr id="249" name="Group 23"/>
          <p:cNvGrpSpPr/>
          <p:nvPr/>
        </p:nvGrpSpPr>
        <p:grpSpPr>
          <a:xfrm>
            <a:off x="951508" y="5764584"/>
            <a:ext cx="508159" cy="543806"/>
            <a:chOff x="0" y="0"/>
            <a:chExt cx="508157" cy="543804"/>
          </a:xfrm>
        </p:grpSpPr>
        <p:sp>
          <p:nvSpPr>
            <p:cNvPr id="247"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48"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6</a:t>
              </a:r>
            </a:p>
          </p:txBody>
        </p:sp>
      </p:grpSp>
      <p:grpSp>
        <p:nvGrpSpPr>
          <p:cNvPr id="252" name="Group 26"/>
          <p:cNvGrpSpPr/>
          <p:nvPr/>
        </p:nvGrpSpPr>
        <p:grpSpPr>
          <a:xfrm>
            <a:off x="951508" y="7088453"/>
            <a:ext cx="508159" cy="543806"/>
            <a:chOff x="0" y="0"/>
            <a:chExt cx="508157" cy="543804"/>
          </a:xfrm>
        </p:grpSpPr>
        <p:sp>
          <p:nvSpPr>
            <p:cNvPr id="250"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51"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8</a:t>
              </a:r>
            </a:p>
          </p:txBody>
        </p:sp>
      </p:grpSp>
      <p:grpSp>
        <p:nvGrpSpPr>
          <p:cNvPr id="255" name="Group 29"/>
          <p:cNvGrpSpPr/>
          <p:nvPr/>
        </p:nvGrpSpPr>
        <p:grpSpPr>
          <a:xfrm>
            <a:off x="951508" y="7756083"/>
            <a:ext cx="508159" cy="543806"/>
            <a:chOff x="0" y="0"/>
            <a:chExt cx="508157" cy="543804"/>
          </a:xfrm>
        </p:grpSpPr>
        <p:sp>
          <p:nvSpPr>
            <p:cNvPr id="253"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54"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9</a:t>
              </a:r>
            </a:p>
          </p:txBody>
        </p:sp>
      </p:grpSp>
      <p:sp>
        <p:nvSpPr>
          <p:cNvPr id="256" name="Freeform 38"/>
          <p:cNvSpPr/>
          <p:nvPr/>
        </p:nvSpPr>
        <p:spPr>
          <a:xfrm>
            <a:off x="11762088" y="-9632634"/>
            <a:ext cx="10994424" cy="10994424"/>
          </a:xfrm>
          <a:prstGeom prst="ellipse">
            <a:avLst/>
          </a:prstGeom>
          <a:ln w="514350" cap="sq">
            <a:solidFill>
              <a:srgbClr val="FD6220">
                <a:alpha val="11765"/>
              </a:srgbClr>
            </a:solidFill>
            <a:miter/>
          </a:ln>
        </p:spPr>
        <p:txBody>
          <a:bodyPr lIns="45719" rIns="45719"/>
          <a:lstStyle/>
          <a:p>
            <a:endParaRPr/>
          </a:p>
        </p:txBody>
      </p:sp>
      <p:sp>
        <p:nvSpPr>
          <p:cNvPr id="257"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endParaRPr/>
          </a:p>
        </p:txBody>
      </p:sp>
      <p:sp>
        <p:nvSpPr>
          <p:cNvPr id="258" name="TextBox 41"/>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4800" b="1">
                <a:solidFill>
                  <a:srgbClr val="0033CC"/>
                </a:solidFill>
                <a:latin typeface="Times New Roman"/>
                <a:ea typeface="Times New Roman"/>
                <a:cs typeface="Times New Roman"/>
                <a:sym typeface="Times New Roman"/>
              </a:defRPr>
            </a:lvl1pPr>
          </a:lstStyle>
          <a:p>
            <a:r>
              <a:t>PROPOSED SYSTEM ARCHITECTURE</a:t>
            </a:r>
          </a:p>
        </p:txBody>
      </p:sp>
      <p:sp>
        <p:nvSpPr>
          <p:cNvPr id="259" name="TextBox 42"/>
          <p:cNvSpPr txBox="1"/>
          <p:nvPr/>
        </p:nvSpPr>
        <p:spPr>
          <a:xfrm>
            <a:off x="2255519" y="1638300"/>
            <a:ext cx="14990886" cy="12461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a:p>
            <a:pPr marL="457200" indent="-457200">
              <a:buSzPct val="100000"/>
              <a:buChar char="-"/>
              <a:defRPr sz="2800"/>
            </a:pPr>
            <a:endParaRPr/>
          </a:p>
        </p:txBody>
      </p:sp>
      <p:pic>
        <p:nvPicPr>
          <p:cNvPr id="260" name="Image" descr="Image"/>
          <p:cNvPicPr>
            <a:picLocks noChangeAspect="1"/>
          </p:cNvPicPr>
          <p:nvPr/>
        </p:nvPicPr>
        <p:blipFill>
          <a:blip r:embed="rId3"/>
          <a:stretch>
            <a:fillRect/>
          </a:stretch>
        </p:blipFill>
        <p:spPr>
          <a:xfrm>
            <a:off x="2255519" y="1638300"/>
            <a:ext cx="13004801" cy="7099300"/>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64" name="Group 14"/>
          <p:cNvGrpSpPr/>
          <p:nvPr/>
        </p:nvGrpSpPr>
        <p:grpSpPr>
          <a:xfrm>
            <a:off x="735587" y="5318633"/>
            <a:ext cx="992464" cy="992464"/>
            <a:chOff x="0" y="0"/>
            <a:chExt cx="992462" cy="992462"/>
          </a:xfrm>
        </p:grpSpPr>
        <p:sp>
          <p:nvSpPr>
            <p:cNvPr id="262" name="Freeform 15"/>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263" name="TextBox 16"/>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r>
                <a:t>6</a:t>
              </a:r>
            </a:p>
          </p:txBody>
        </p:sp>
      </p:grpSp>
      <p:grpSp>
        <p:nvGrpSpPr>
          <p:cNvPr id="267" name="Group 17"/>
          <p:cNvGrpSpPr/>
          <p:nvPr/>
        </p:nvGrpSpPr>
        <p:grpSpPr>
          <a:xfrm>
            <a:off x="977740" y="3315742"/>
            <a:ext cx="508159" cy="543806"/>
            <a:chOff x="0" y="0"/>
            <a:chExt cx="508157" cy="543804"/>
          </a:xfrm>
        </p:grpSpPr>
        <p:sp>
          <p:nvSpPr>
            <p:cNvPr id="265"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66"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3</a:t>
              </a:r>
            </a:p>
          </p:txBody>
        </p:sp>
      </p:grpSp>
      <p:grpSp>
        <p:nvGrpSpPr>
          <p:cNvPr id="270" name="Group 20"/>
          <p:cNvGrpSpPr/>
          <p:nvPr/>
        </p:nvGrpSpPr>
        <p:grpSpPr>
          <a:xfrm>
            <a:off x="977740" y="1982348"/>
            <a:ext cx="508159" cy="543806"/>
            <a:chOff x="0" y="0"/>
            <a:chExt cx="508157" cy="543804"/>
          </a:xfrm>
        </p:grpSpPr>
        <p:sp>
          <p:nvSpPr>
            <p:cNvPr id="268"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69"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1</a:t>
              </a:r>
            </a:p>
          </p:txBody>
        </p:sp>
      </p:grpSp>
      <p:grpSp>
        <p:nvGrpSpPr>
          <p:cNvPr id="273" name="Group 23"/>
          <p:cNvGrpSpPr/>
          <p:nvPr/>
        </p:nvGrpSpPr>
        <p:grpSpPr>
          <a:xfrm>
            <a:off x="977740" y="3983373"/>
            <a:ext cx="508159" cy="543806"/>
            <a:chOff x="0" y="0"/>
            <a:chExt cx="508157" cy="543804"/>
          </a:xfrm>
        </p:grpSpPr>
        <p:sp>
          <p:nvSpPr>
            <p:cNvPr id="271"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72"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4</a:t>
              </a:r>
            </a:p>
          </p:txBody>
        </p:sp>
      </p:grpSp>
      <p:grpSp>
        <p:nvGrpSpPr>
          <p:cNvPr id="276" name="Group 26"/>
          <p:cNvGrpSpPr/>
          <p:nvPr/>
        </p:nvGrpSpPr>
        <p:grpSpPr>
          <a:xfrm>
            <a:off x="977740" y="2648112"/>
            <a:ext cx="508159" cy="543806"/>
            <a:chOff x="0" y="0"/>
            <a:chExt cx="508157" cy="543804"/>
          </a:xfrm>
        </p:grpSpPr>
        <p:sp>
          <p:nvSpPr>
            <p:cNvPr id="274"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75"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2</a:t>
              </a:r>
            </a:p>
          </p:txBody>
        </p:sp>
      </p:grpSp>
      <p:grpSp>
        <p:nvGrpSpPr>
          <p:cNvPr id="279" name="Group 29"/>
          <p:cNvGrpSpPr/>
          <p:nvPr/>
        </p:nvGrpSpPr>
        <p:grpSpPr>
          <a:xfrm>
            <a:off x="977740" y="6425584"/>
            <a:ext cx="508159" cy="543806"/>
            <a:chOff x="0" y="0"/>
            <a:chExt cx="508157" cy="543804"/>
          </a:xfrm>
        </p:grpSpPr>
        <p:sp>
          <p:nvSpPr>
            <p:cNvPr id="277"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78"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7</a:t>
              </a:r>
            </a:p>
          </p:txBody>
        </p:sp>
      </p:grpSp>
      <p:grpSp>
        <p:nvGrpSpPr>
          <p:cNvPr id="282" name="Group 32"/>
          <p:cNvGrpSpPr/>
          <p:nvPr/>
        </p:nvGrpSpPr>
        <p:grpSpPr>
          <a:xfrm>
            <a:off x="977740" y="4651002"/>
            <a:ext cx="508159" cy="543806"/>
            <a:chOff x="0" y="0"/>
            <a:chExt cx="508157" cy="543804"/>
          </a:xfrm>
        </p:grpSpPr>
        <p:sp>
          <p:nvSpPr>
            <p:cNvPr id="280" name="Freeform 3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81" name="TextBox 3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5</a:t>
              </a:r>
            </a:p>
          </p:txBody>
        </p:sp>
      </p:grpSp>
      <p:grpSp>
        <p:nvGrpSpPr>
          <p:cNvPr id="285" name="Group 37"/>
          <p:cNvGrpSpPr/>
          <p:nvPr/>
        </p:nvGrpSpPr>
        <p:grpSpPr>
          <a:xfrm>
            <a:off x="977740" y="7093215"/>
            <a:ext cx="508159" cy="543806"/>
            <a:chOff x="0" y="0"/>
            <a:chExt cx="508157" cy="543804"/>
          </a:xfrm>
        </p:grpSpPr>
        <p:sp>
          <p:nvSpPr>
            <p:cNvPr id="283"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84"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8</a:t>
              </a:r>
            </a:p>
          </p:txBody>
        </p:sp>
      </p:grpSp>
      <p:grpSp>
        <p:nvGrpSpPr>
          <p:cNvPr id="288" name="Group 40"/>
          <p:cNvGrpSpPr/>
          <p:nvPr/>
        </p:nvGrpSpPr>
        <p:grpSpPr>
          <a:xfrm>
            <a:off x="977740" y="7760845"/>
            <a:ext cx="508159" cy="543806"/>
            <a:chOff x="0" y="0"/>
            <a:chExt cx="508157" cy="543804"/>
          </a:xfrm>
        </p:grpSpPr>
        <p:sp>
          <p:nvSpPr>
            <p:cNvPr id="286" name="Freeform 4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87" name="TextBox 4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9</a:t>
              </a:r>
            </a:p>
          </p:txBody>
        </p:sp>
      </p:grpSp>
      <p:sp>
        <p:nvSpPr>
          <p:cNvPr id="289"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endParaRPr/>
          </a:p>
        </p:txBody>
      </p:sp>
      <p:sp>
        <p:nvSpPr>
          <p:cNvPr id="290" name="TextBox 46"/>
          <p:cNvSpPr txBox="1"/>
          <p:nvPr/>
        </p:nvSpPr>
        <p:spPr>
          <a:xfrm>
            <a:off x="236220" y="315937"/>
            <a:ext cx="17815561" cy="764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4800" b="1">
                <a:solidFill>
                  <a:srgbClr val="0033CC"/>
                </a:solidFill>
                <a:latin typeface="Times New Roman"/>
                <a:ea typeface="Times New Roman"/>
                <a:cs typeface="Times New Roman"/>
                <a:sym typeface="Times New Roman"/>
              </a:defRPr>
            </a:lvl1pPr>
          </a:lstStyle>
          <a:p>
            <a:r>
              <a:t>WORKFLOW</a:t>
            </a:r>
          </a:p>
        </p:txBody>
      </p:sp>
      <p:sp>
        <p:nvSpPr>
          <p:cNvPr id="291" name="TextBox 49"/>
          <p:cNvSpPr txBox="1"/>
          <p:nvPr/>
        </p:nvSpPr>
        <p:spPr>
          <a:xfrm>
            <a:off x="2255519" y="1638299"/>
            <a:ext cx="14990886" cy="78443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800"/>
            </a:pPr>
            <a:endParaRPr/>
          </a:p>
        </p:txBody>
      </p:sp>
      <p:pic>
        <p:nvPicPr>
          <p:cNvPr id="292" name="Image" descr="Image"/>
          <p:cNvPicPr>
            <a:picLocks noChangeAspect="1"/>
          </p:cNvPicPr>
          <p:nvPr/>
        </p:nvPicPr>
        <p:blipFill>
          <a:blip r:embed="rId3"/>
          <a:stretch>
            <a:fillRect/>
          </a:stretch>
        </p:blipFill>
        <p:spPr>
          <a:xfrm>
            <a:off x="2255519" y="1638299"/>
            <a:ext cx="11456845" cy="7664003"/>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96" name="Group 19"/>
          <p:cNvGrpSpPr/>
          <p:nvPr/>
        </p:nvGrpSpPr>
        <p:grpSpPr>
          <a:xfrm>
            <a:off x="735587" y="5976927"/>
            <a:ext cx="992464" cy="992464"/>
            <a:chOff x="0" y="0"/>
            <a:chExt cx="992462" cy="992462"/>
          </a:xfrm>
        </p:grpSpPr>
        <p:sp>
          <p:nvSpPr>
            <p:cNvPr id="294" name="Freeform 20"/>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295" name="TextBox 21"/>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r>
                <a:t>7</a:t>
              </a:r>
            </a:p>
          </p:txBody>
        </p:sp>
      </p:grpSp>
      <p:grpSp>
        <p:nvGrpSpPr>
          <p:cNvPr id="299" name="Group 22"/>
          <p:cNvGrpSpPr/>
          <p:nvPr/>
        </p:nvGrpSpPr>
        <p:grpSpPr>
          <a:xfrm>
            <a:off x="977740" y="3315742"/>
            <a:ext cx="508159" cy="543806"/>
            <a:chOff x="0" y="0"/>
            <a:chExt cx="508157" cy="543804"/>
          </a:xfrm>
        </p:grpSpPr>
        <p:sp>
          <p:nvSpPr>
            <p:cNvPr id="297"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298"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3</a:t>
              </a:r>
            </a:p>
          </p:txBody>
        </p:sp>
      </p:grpSp>
      <p:grpSp>
        <p:nvGrpSpPr>
          <p:cNvPr id="302" name="Group 25"/>
          <p:cNvGrpSpPr/>
          <p:nvPr/>
        </p:nvGrpSpPr>
        <p:grpSpPr>
          <a:xfrm>
            <a:off x="977740" y="1982348"/>
            <a:ext cx="508159" cy="543806"/>
            <a:chOff x="0" y="0"/>
            <a:chExt cx="508157" cy="543804"/>
          </a:xfrm>
        </p:grpSpPr>
        <p:sp>
          <p:nvSpPr>
            <p:cNvPr id="300"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01"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1</a:t>
              </a:r>
            </a:p>
          </p:txBody>
        </p:sp>
      </p:grpSp>
      <p:grpSp>
        <p:nvGrpSpPr>
          <p:cNvPr id="305" name="Group 28"/>
          <p:cNvGrpSpPr/>
          <p:nvPr/>
        </p:nvGrpSpPr>
        <p:grpSpPr>
          <a:xfrm>
            <a:off x="977740" y="3983373"/>
            <a:ext cx="508159" cy="543806"/>
            <a:chOff x="0" y="0"/>
            <a:chExt cx="508157" cy="543804"/>
          </a:xfrm>
        </p:grpSpPr>
        <p:sp>
          <p:nvSpPr>
            <p:cNvPr id="303"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04"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4</a:t>
              </a:r>
            </a:p>
          </p:txBody>
        </p:sp>
      </p:grpSp>
      <p:grpSp>
        <p:nvGrpSpPr>
          <p:cNvPr id="308" name="Group 31"/>
          <p:cNvGrpSpPr/>
          <p:nvPr/>
        </p:nvGrpSpPr>
        <p:grpSpPr>
          <a:xfrm>
            <a:off x="977740" y="2648112"/>
            <a:ext cx="508159" cy="543806"/>
            <a:chOff x="0" y="0"/>
            <a:chExt cx="508157" cy="543804"/>
          </a:xfrm>
        </p:grpSpPr>
        <p:sp>
          <p:nvSpPr>
            <p:cNvPr id="306"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07"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2</a:t>
              </a:r>
            </a:p>
          </p:txBody>
        </p:sp>
      </p:grpSp>
      <p:grpSp>
        <p:nvGrpSpPr>
          <p:cNvPr id="311" name="Group 34"/>
          <p:cNvGrpSpPr/>
          <p:nvPr/>
        </p:nvGrpSpPr>
        <p:grpSpPr>
          <a:xfrm>
            <a:off x="977740" y="5318633"/>
            <a:ext cx="508159" cy="543806"/>
            <a:chOff x="0" y="0"/>
            <a:chExt cx="508157" cy="543804"/>
          </a:xfrm>
        </p:grpSpPr>
        <p:sp>
          <p:nvSpPr>
            <p:cNvPr id="309" name="Freeform 3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10" name="TextBox 3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6</a:t>
              </a:r>
            </a:p>
          </p:txBody>
        </p:sp>
      </p:grpSp>
      <p:grpSp>
        <p:nvGrpSpPr>
          <p:cNvPr id="314" name="Group 37"/>
          <p:cNvGrpSpPr/>
          <p:nvPr/>
        </p:nvGrpSpPr>
        <p:grpSpPr>
          <a:xfrm>
            <a:off x="977740" y="4651002"/>
            <a:ext cx="508159" cy="543806"/>
            <a:chOff x="0" y="0"/>
            <a:chExt cx="508157" cy="543804"/>
          </a:xfrm>
        </p:grpSpPr>
        <p:sp>
          <p:nvSpPr>
            <p:cNvPr id="312"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13"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5</a:t>
              </a:r>
            </a:p>
          </p:txBody>
        </p:sp>
      </p:grpSp>
      <p:grpSp>
        <p:nvGrpSpPr>
          <p:cNvPr id="317" name="Group 40"/>
          <p:cNvGrpSpPr/>
          <p:nvPr/>
        </p:nvGrpSpPr>
        <p:grpSpPr>
          <a:xfrm>
            <a:off x="977740" y="7093215"/>
            <a:ext cx="508159" cy="543806"/>
            <a:chOff x="0" y="0"/>
            <a:chExt cx="508157" cy="543804"/>
          </a:xfrm>
        </p:grpSpPr>
        <p:sp>
          <p:nvSpPr>
            <p:cNvPr id="315" name="Freeform 4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16" name="TextBox 4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8</a:t>
              </a:r>
            </a:p>
          </p:txBody>
        </p:sp>
      </p:grpSp>
      <p:grpSp>
        <p:nvGrpSpPr>
          <p:cNvPr id="320" name="Group 43"/>
          <p:cNvGrpSpPr/>
          <p:nvPr/>
        </p:nvGrpSpPr>
        <p:grpSpPr>
          <a:xfrm>
            <a:off x="977740" y="7760845"/>
            <a:ext cx="508159" cy="543806"/>
            <a:chOff x="0" y="0"/>
            <a:chExt cx="508157" cy="543804"/>
          </a:xfrm>
        </p:grpSpPr>
        <p:sp>
          <p:nvSpPr>
            <p:cNvPr id="318" name="Freeform 4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19" name="TextBox 4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9</a:t>
              </a:r>
            </a:p>
          </p:txBody>
        </p:sp>
      </p:grpSp>
      <p:sp>
        <p:nvSpPr>
          <p:cNvPr id="321"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endParaRPr/>
          </a:p>
        </p:txBody>
      </p:sp>
      <p:sp>
        <p:nvSpPr>
          <p:cNvPr id="322" name="TextBox 46"/>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4800" b="1">
                <a:solidFill>
                  <a:srgbClr val="0033CC"/>
                </a:solidFill>
                <a:latin typeface="Times New Roman"/>
                <a:ea typeface="Times New Roman"/>
                <a:cs typeface="Times New Roman"/>
                <a:sym typeface="Times New Roman"/>
              </a:defRPr>
            </a:lvl1pPr>
          </a:lstStyle>
          <a:p>
            <a:r>
              <a:t>TECHNOLOGIES USED</a:t>
            </a:r>
          </a:p>
        </p:txBody>
      </p:sp>
      <p:sp>
        <p:nvSpPr>
          <p:cNvPr id="323" name="TextBox 47"/>
          <p:cNvSpPr txBox="1"/>
          <p:nvPr/>
        </p:nvSpPr>
        <p:spPr>
          <a:xfrm>
            <a:off x="2255519" y="1638299"/>
            <a:ext cx="14990886" cy="70982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12700">
              <a:lnSpc>
                <a:spcPct val="121666"/>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b="1">
                <a:latin typeface="+mn-lt"/>
                <a:ea typeface="+mn-ea"/>
                <a:cs typeface="+mn-cs"/>
                <a:sym typeface="Helvetica"/>
              </a:defRPr>
            </a:pPr>
            <a:r>
              <a:t>Technologies Used :</a:t>
            </a:r>
            <a:endParaRPr sz="1200" b="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b="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b="1">
                <a:latin typeface="Helvetica Neue"/>
                <a:ea typeface="Helvetica Neue"/>
                <a:cs typeface="Helvetica Neue"/>
                <a:sym typeface="Helvetica Neue"/>
              </a:defRPr>
            </a:pPr>
            <a:r>
              <a:t>Frontend:</a:t>
            </a:r>
            <a:endParaRPr sz="1200" b="0">
              <a:latin typeface="+mn-lt"/>
              <a:ea typeface="+mn-ea"/>
              <a:cs typeface="+mn-cs"/>
              <a:sym typeface="Helvetica"/>
            </a:endParaRP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n-lt"/>
                <a:ea typeface="+mn-ea"/>
                <a:cs typeface="+mn-cs"/>
                <a:sym typeface="Helvetica"/>
              </a:defRPr>
            </a:pPr>
            <a:r>
              <a:t>HTML, CSS, and Thymeleaf are used to build a responsive UI with dynamic content rendering.</a:t>
            </a: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br/>
            <a:endParaR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b="1">
                <a:latin typeface="Helvetica Neue"/>
                <a:ea typeface="Helvetica Neue"/>
                <a:cs typeface="Helvetica Neue"/>
                <a:sym typeface="Helvetica Neue"/>
              </a:defRPr>
            </a:pPr>
            <a:r>
              <a:t>Backend:</a:t>
            </a:r>
            <a:endParaRPr sz="1200" b="0">
              <a:latin typeface="+mn-lt"/>
              <a:ea typeface="+mn-ea"/>
              <a:cs typeface="+mn-cs"/>
              <a:sym typeface="Helvetica"/>
            </a:endParaRP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n-lt"/>
                <a:ea typeface="+mn-ea"/>
                <a:cs typeface="+mn-cs"/>
                <a:sym typeface="Helvetica"/>
              </a:defRPr>
            </a:pPr>
            <a:r>
              <a:t>Spring Boot (Java) handles business logic, APIs, and secure role-based authentication.</a:t>
            </a: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b="1">
                <a:latin typeface="Helvetica Neue"/>
                <a:ea typeface="Helvetica Neue"/>
                <a:cs typeface="Helvetica Neue"/>
                <a:sym typeface="Helvetica Neue"/>
              </a:defRPr>
            </a:pPr>
            <a:r>
              <a:t>Database:</a:t>
            </a:r>
            <a:endParaRPr sz="1200" b="0">
              <a:latin typeface="+mn-lt"/>
              <a:ea typeface="+mn-ea"/>
              <a:cs typeface="+mn-cs"/>
              <a:sym typeface="Helvetica"/>
            </a:endParaRP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n-lt"/>
                <a:ea typeface="+mn-ea"/>
                <a:cs typeface="+mn-cs"/>
                <a:sym typeface="Helvetica"/>
              </a:defRPr>
            </a:pPr>
            <a:r>
              <a:t>MySQL stores data, while Spring Data JPA (ORM) manages database operations efficiently.</a:t>
            </a: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b="1">
                <a:latin typeface="Helvetica Neue"/>
                <a:ea typeface="Helvetica Neue"/>
                <a:cs typeface="Helvetica Neue"/>
                <a:sym typeface="Helvetica Neue"/>
              </a:defRPr>
            </a:pPr>
            <a:r>
              <a:t>Tools &amp; Environment:</a:t>
            </a:r>
            <a:endParaRPr sz="1200" b="0">
              <a:latin typeface="+mn-lt"/>
              <a:ea typeface="+mn-ea"/>
              <a:cs typeface="+mn-cs"/>
              <a:sym typeface="Helvetica"/>
            </a:endParaRP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n-lt"/>
                <a:ea typeface="+mn-ea"/>
                <a:cs typeface="+mn-cs"/>
                <a:sym typeface="Helvetica"/>
              </a:defRPr>
            </a:pPr>
            <a:r>
              <a:t>VS Code/IntelliJ, Maven, MySQL Workbench, and Chrome are used for development and testing.</a:t>
            </a: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b="1">
                <a:latin typeface="Helvetica Neue"/>
                <a:ea typeface="Helvetica Neue"/>
                <a:cs typeface="Helvetica Neue"/>
                <a:sym typeface="Helvetica Neue"/>
              </a:defRPr>
            </a:pPr>
            <a:r>
              <a:t>Hardware/Software Requirements:</a:t>
            </a:r>
            <a:endParaRPr sz="1200" b="0">
              <a:latin typeface="+mn-lt"/>
              <a:ea typeface="+mn-ea"/>
              <a:cs typeface="+mn-cs"/>
              <a:sym typeface="Helvetica"/>
            </a:endParaRPr>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n-lt"/>
                <a:ea typeface="+mn-ea"/>
                <a:cs typeface="+mn-cs"/>
                <a:sym typeface="Helvetica"/>
              </a:defRPr>
            </a:pPr>
            <a:r>
              <a:t>Requires a system with 4GB RAM, JDK 17+, MySQL, and a modern web browser.</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327" name="Group 7"/>
          <p:cNvGrpSpPr/>
          <p:nvPr/>
        </p:nvGrpSpPr>
        <p:grpSpPr>
          <a:xfrm>
            <a:off x="735587" y="6653893"/>
            <a:ext cx="992464" cy="992464"/>
            <a:chOff x="0" y="0"/>
            <a:chExt cx="992462" cy="992462"/>
          </a:xfrm>
        </p:grpSpPr>
        <p:sp>
          <p:nvSpPr>
            <p:cNvPr id="325"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326" name="TextBox 9"/>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r>
                <a:t>8</a:t>
              </a:r>
            </a:p>
          </p:txBody>
        </p:sp>
      </p:grpSp>
      <p:grpSp>
        <p:nvGrpSpPr>
          <p:cNvPr id="330" name="Group 10"/>
          <p:cNvGrpSpPr/>
          <p:nvPr/>
        </p:nvGrpSpPr>
        <p:grpSpPr>
          <a:xfrm>
            <a:off x="977740" y="3315742"/>
            <a:ext cx="508159" cy="543806"/>
            <a:chOff x="0" y="0"/>
            <a:chExt cx="508157" cy="543804"/>
          </a:xfrm>
        </p:grpSpPr>
        <p:sp>
          <p:nvSpPr>
            <p:cNvPr id="328"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29"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3</a:t>
              </a:r>
            </a:p>
          </p:txBody>
        </p:sp>
      </p:grpSp>
      <p:grpSp>
        <p:nvGrpSpPr>
          <p:cNvPr id="333" name="Group 13"/>
          <p:cNvGrpSpPr/>
          <p:nvPr/>
        </p:nvGrpSpPr>
        <p:grpSpPr>
          <a:xfrm>
            <a:off x="977740" y="1982348"/>
            <a:ext cx="508159" cy="543806"/>
            <a:chOff x="0" y="0"/>
            <a:chExt cx="508157" cy="543804"/>
          </a:xfrm>
        </p:grpSpPr>
        <p:sp>
          <p:nvSpPr>
            <p:cNvPr id="331"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32"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1</a:t>
              </a:r>
            </a:p>
          </p:txBody>
        </p:sp>
      </p:grpSp>
      <p:grpSp>
        <p:nvGrpSpPr>
          <p:cNvPr id="336" name="Group 16"/>
          <p:cNvGrpSpPr/>
          <p:nvPr/>
        </p:nvGrpSpPr>
        <p:grpSpPr>
          <a:xfrm>
            <a:off x="977740" y="3983373"/>
            <a:ext cx="508159" cy="543806"/>
            <a:chOff x="0" y="0"/>
            <a:chExt cx="508157" cy="543804"/>
          </a:xfrm>
        </p:grpSpPr>
        <p:sp>
          <p:nvSpPr>
            <p:cNvPr id="334"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35"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4</a:t>
              </a:r>
            </a:p>
          </p:txBody>
        </p:sp>
      </p:grpSp>
      <p:grpSp>
        <p:nvGrpSpPr>
          <p:cNvPr id="339" name="Group 19"/>
          <p:cNvGrpSpPr/>
          <p:nvPr/>
        </p:nvGrpSpPr>
        <p:grpSpPr>
          <a:xfrm>
            <a:off x="977740" y="2648112"/>
            <a:ext cx="508159" cy="543806"/>
            <a:chOff x="0" y="0"/>
            <a:chExt cx="508157" cy="543804"/>
          </a:xfrm>
        </p:grpSpPr>
        <p:sp>
          <p:nvSpPr>
            <p:cNvPr id="337"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38"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2</a:t>
              </a:r>
            </a:p>
          </p:txBody>
        </p:sp>
      </p:grpSp>
      <p:grpSp>
        <p:nvGrpSpPr>
          <p:cNvPr id="342" name="Group 22"/>
          <p:cNvGrpSpPr/>
          <p:nvPr/>
        </p:nvGrpSpPr>
        <p:grpSpPr>
          <a:xfrm>
            <a:off x="977740" y="5318633"/>
            <a:ext cx="508159" cy="543806"/>
            <a:chOff x="0" y="0"/>
            <a:chExt cx="508157" cy="543804"/>
          </a:xfrm>
        </p:grpSpPr>
        <p:sp>
          <p:nvSpPr>
            <p:cNvPr id="340"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41"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6</a:t>
              </a:r>
            </a:p>
          </p:txBody>
        </p:sp>
      </p:grpSp>
      <p:grpSp>
        <p:nvGrpSpPr>
          <p:cNvPr id="345" name="Group 25"/>
          <p:cNvGrpSpPr/>
          <p:nvPr/>
        </p:nvGrpSpPr>
        <p:grpSpPr>
          <a:xfrm>
            <a:off x="977740" y="4651002"/>
            <a:ext cx="508159" cy="543806"/>
            <a:chOff x="0" y="0"/>
            <a:chExt cx="508157" cy="543804"/>
          </a:xfrm>
        </p:grpSpPr>
        <p:sp>
          <p:nvSpPr>
            <p:cNvPr id="343"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44"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5</a:t>
              </a:r>
            </a:p>
          </p:txBody>
        </p:sp>
      </p:grpSp>
      <p:grpSp>
        <p:nvGrpSpPr>
          <p:cNvPr id="348" name="Group 28"/>
          <p:cNvGrpSpPr/>
          <p:nvPr/>
        </p:nvGrpSpPr>
        <p:grpSpPr>
          <a:xfrm>
            <a:off x="977740" y="5986264"/>
            <a:ext cx="508159" cy="543806"/>
            <a:chOff x="0" y="0"/>
            <a:chExt cx="508157" cy="543804"/>
          </a:xfrm>
        </p:grpSpPr>
        <p:sp>
          <p:nvSpPr>
            <p:cNvPr id="346"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47"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7</a:t>
              </a:r>
            </a:p>
          </p:txBody>
        </p:sp>
      </p:grpSp>
      <p:grpSp>
        <p:nvGrpSpPr>
          <p:cNvPr id="351" name="Group 31"/>
          <p:cNvGrpSpPr/>
          <p:nvPr/>
        </p:nvGrpSpPr>
        <p:grpSpPr>
          <a:xfrm>
            <a:off x="977740" y="7760845"/>
            <a:ext cx="508159" cy="543806"/>
            <a:chOff x="0" y="0"/>
            <a:chExt cx="508157" cy="543804"/>
          </a:xfrm>
        </p:grpSpPr>
        <p:sp>
          <p:nvSpPr>
            <p:cNvPr id="349"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50"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9</a:t>
              </a:r>
            </a:p>
          </p:txBody>
        </p:sp>
      </p:grpSp>
      <p:sp>
        <p:nvSpPr>
          <p:cNvPr id="352" name="Freeform 34"/>
          <p:cNvSpPr/>
          <p:nvPr/>
        </p:nvSpPr>
        <p:spPr>
          <a:xfrm>
            <a:off x="16313419" y="1028700"/>
            <a:ext cx="945881" cy="236470"/>
          </a:xfrm>
          <a:prstGeom prst="rect">
            <a:avLst/>
          </a:prstGeom>
          <a:blipFill>
            <a:blip r:embed="rId2"/>
            <a:stretch>
              <a:fillRect/>
            </a:stretch>
          </a:blipFill>
          <a:ln w="12700">
            <a:miter lim="400000"/>
          </a:ln>
        </p:spPr>
        <p:txBody>
          <a:bodyPr lIns="45719" rIns="45719"/>
          <a:lstStyle/>
          <a:p>
            <a:endParaRPr/>
          </a:p>
        </p:txBody>
      </p:sp>
      <p:sp>
        <p:nvSpPr>
          <p:cNvPr id="353"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endParaRPr/>
          </a:p>
        </p:txBody>
      </p:sp>
      <p:sp>
        <p:nvSpPr>
          <p:cNvPr id="354" name="TextBox 42"/>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4800" b="1">
                <a:solidFill>
                  <a:srgbClr val="0033CC"/>
                </a:solidFill>
                <a:latin typeface="Times New Roman"/>
                <a:ea typeface="Times New Roman"/>
                <a:cs typeface="Times New Roman"/>
                <a:sym typeface="Times New Roman"/>
              </a:defRPr>
            </a:lvl1pPr>
          </a:lstStyle>
          <a:p>
            <a:r>
              <a:t>MODULE DESCRIPTION</a:t>
            </a:r>
          </a:p>
        </p:txBody>
      </p:sp>
      <p:sp>
        <p:nvSpPr>
          <p:cNvPr id="355" name="TextBox 43"/>
          <p:cNvSpPr txBox="1"/>
          <p:nvPr/>
        </p:nvSpPr>
        <p:spPr>
          <a:xfrm>
            <a:off x="2255519" y="1638299"/>
            <a:ext cx="14990886" cy="75131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12700">
              <a:lnSpc>
                <a:spcPct val="121666"/>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b="1">
                <a:latin typeface="+mn-lt"/>
                <a:ea typeface="+mn-ea"/>
                <a:cs typeface="+mn-cs"/>
                <a:sym typeface="Helvetica"/>
              </a:defRPr>
            </a:pPr>
            <a:r>
              <a:t>Module 1: User Management</a:t>
            </a:r>
            <a:endParaRPr sz="1200" b="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b="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n-lt"/>
                <a:ea typeface="+mn-ea"/>
                <a:cs typeface="+mn-cs"/>
                <a:sym typeface="Helvetica"/>
              </a:defRPr>
            </a:pPr>
            <a:r>
              <a:t>Handles user registration, login, and logout with secure authentication using Spring Security. It manages role-based access for User (Student), Publisher, and Host, ensuring controlled access to different functionalities.</a:t>
            </a: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lnSpc>
                <a:spcPct val="121666"/>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b="1">
                <a:latin typeface="+mn-lt"/>
                <a:ea typeface="+mn-ea"/>
                <a:cs typeface="+mn-cs"/>
                <a:sym typeface="Helvetica"/>
              </a:defRPr>
            </a:pPr>
            <a:r>
              <a:t>Module 2: Event Management</a:t>
            </a:r>
            <a:endParaRPr sz="1200" b="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b="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n-lt"/>
                <a:ea typeface="+mn-ea"/>
                <a:cs typeface="+mn-cs"/>
                <a:sym typeface="Helvetica"/>
              </a:defRPr>
            </a:pPr>
            <a:r>
              <a:t>Manages creation, updating, deletion, and approval of events using CRUD operations. Publishers can add and modify events, while Hosts can approve, reject, or manage all events in the system.</a:t>
            </a: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lnSpc>
                <a:spcPct val="121666"/>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b="1">
                <a:latin typeface="+mn-lt"/>
                <a:ea typeface="+mn-ea"/>
                <a:cs typeface="+mn-cs"/>
                <a:sym typeface="Helvetica"/>
              </a:defRPr>
            </a:pPr>
            <a:r>
              <a:t>Module 3: Event Registration System</a:t>
            </a:r>
            <a:endParaRPr sz="1200" b="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b="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n-lt"/>
                <a:ea typeface="+mn-ea"/>
                <a:cs typeface="+mn-cs"/>
                <a:sym typeface="Helvetica"/>
              </a:defRPr>
            </a:pPr>
            <a:r>
              <a:t>Allows users to register and unregister for events dynamically. It maintains registration records in the database and ensures proper mapping between users and events using JPA relationships.</a:t>
            </a: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a:p>
          <a:p>
            <a:pPr defTabSz="12700">
              <a:lnSpc>
                <a:spcPct val="121666"/>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b="1">
                <a:latin typeface="+mn-lt"/>
                <a:ea typeface="+mn-ea"/>
                <a:cs typeface="+mn-cs"/>
                <a:sym typeface="Helvetica"/>
              </a:defRPr>
            </a:pPr>
            <a:r>
              <a:t>Module 4: Backend &amp; Database Processing</a:t>
            </a:r>
            <a:endParaRPr sz="1200" b="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b="0"/>
          </a:p>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n-lt"/>
                <a:ea typeface="+mn-ea"/>
                <a:cs typeface="+mn-cs"/>
                <a:sym typeface="Helvetica"/>
              </a:defRPr>
            </a:pPr>
            <a:r>
              <a:t>Handles server-side logic, API routing, and database operations using Spring Boot and MySQL. Spring Data JPA (ORM) ensures efficient data mapping, validation, and retrieval of users, events, and registrations.</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359" name="Group 7"/>
          <p:cNvGrpSpPr/>
          <p:nvPr/>
        </p:nvGrpSpPr>
        <p:grpSpPr>
          <a:xfrm>
            <a:off x="735587" y="6653893"/>
            <a:ext cx="992464" cy="992464"/>
            <a:chOff x="0" y="0"/>
            <a:chExt cx="992462" cy="992462"/>
          </a:xfrm>
        </p:grpSpPr>
        <p:sp>
          <p:nvSpPr>
            <p:cNvPr id="357"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358"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400" b="1">
                  <a:solidFill>
                    <a:srgbClr val="002060"/>
                  </a:solidFill>
                  <a:latin typeface="Gotham"/>
                  <a:ea typeface="Gotham"/>
                  <a:cs typeface="Gotham"/>
                  <a:sym typeface="Gotham"/>
                </a:defRPr>
              </a:lvl1pPr>
            </a:lstStyle>
            <a:p>
              <a:r>
                <a:t>8</a:t>
              </a:r>
            </a:p>
          </p:txBody>
        </p:sp>
      </p:grpSp>
      <p:grpSp>
        <p:nvGrpSpPr>
          <p:cNvPr id="362" name="Group 10"/>
          <p:cNvGrpSpPr/>
          <p:nvPr/>
        </p:nvGrpSpPr>
        <p:grpSpPr>
          <a:xfrm>
            <a:off x="977740" y="3315742"/>
            <a:ext cx="508159" cy="543806"/>
            <a:chOff x="0" y="0"/>
            <a:chExt cx="508157" cy="543804"/>
          </a:xfrm>
        </p:grpSpPr>
        <p:sp>
          <p:nvSpPr>
            <p:cNvPr id="360"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61"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3</a:t>
              </a:r>
            </a:p>
          </p:txBody>
        </p:sp>
      </p:grpSp>
      <p:grpSp>
        <p:nvGrpSpPr>
          <p:cNvPr id="365" name="Group 13"/>
          <p:cNvGrpSpPr/>
          <p:nvPr/>
        </p:nvGrpSpPr>
        <p:grpSpPr>
          <a:xfrm>
            <a:off x="977740" y="1982348"/>
            <a:ext cx="508159" cy="543806"/>
            <a:chOff x="0" y="0"/>
            <a:chExt cx="508157" cy="543804"/>
          </a:xfrm>
        </p:grpSpPr>
        <p:sp>
          <p:nvSpPr>
            <p:cNvPr id="363"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64"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1</a:t>
              </a:r>
            </a:p>
          </p:txBody>
        </p:sp>
      </p:grpSp>
      <p:grpSp>
        <p:nvGrpSpPr>
          <p:cNvPr id="368" name="Group 16"/>
          <p:cNvGrpSpPr/>
          <p:nvPr/>
        </p:nvGrpSpPr>
        <p:grpSpPr>
          <a:xfrm>
            <a:off x="977740" y="3983373"/>
            <a:ext cx="508159" cy="543806"/>
            <a:chOff x="0" y="0"/>
            <a:chExt cx="508157" cy="543804"/>
          </a:xfrm>
        </p:grpSpPr>
        <p:sp>
          <p:nvSpPr>
            <p:cNvPr id="366"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67"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4</a:t>
              </a:r>
            </a:p>
          </p:txBody>
        </p:sp>
      </p:grpSp>
      <p:grpSp>
        <p:nvGrpSpPr>
          <p:cNvPr id="371" name="Group 19"/>
          <p:cNvGrpSpPr/>
          <p:nvPr/>
        </p:nvGrpSpPr>
        <p:grpSpPr>
          <a:xfrm>
            <a:off x="977740" y="2648112"/>
            <a:ext cx="508159" cy="543806"/>
            <a:chOff x="0" y="0"/>
            <a:chExt cx="508157" cy="543804"/>
          </a:xfrm>
        </p:grpSpPr>
        <p:sp>
          <p:nvSpPr>
            <p:cNvPr id="369"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70"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2</a:t>
              </a:r>
            </a:p>
          </p:txBody>
        </p:sp>
      </p:grpSp>
      <p:grpSp>
        <p:nvGrpSpPr>
          <p:cNvPr id="374" name="Group 22"/>
          <p:cNvGrpSpPr/>
          <p:nvPr/>
        </p:nvGrpSpPr>
        <p:grpSpPr>
          <a:xfrm>
            <a:off x="977740" y="5318633"/>
            <a:ext cx="508159" cy="543806"/>
            <a:chOff x="0" y="0"/>
            <a:chExt cx="508157" cy="543804"/>
          </a:xfrm>
        </p:grpSpPr>
        <p:sp>
          <p:nvSpPr>
            <p:cNvPr id="372"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73"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6</a:t>
              </a:r>
            </a:p>
          </p:txBody>
        </p:sp>
      </p:grpSp>
      <p:grpSp>
        <p:nvGrpSpPr>
          <p:cNvPr id="377" name="Group 25"/>
          <p:cNvGrpSpPr/>
          <p:nvPr/>
        </p:nvGrpSpPr>
        <p:grpSpPr>
          <a:xfrm>
            <a:off x="977740" y="4651002"/>
            <a:ext cx="508159" cy="543806"/>
            <a:chOff x="0" y="0"/>
            <a:chExt cx="508157" cy="543804"/>
          </a:xfrm>
        </p:grpSpPr>
        <p:sp>
          <p:nvSpPr>
            <p:cNvPr id="375"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76"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5</a:t>
              </a:r>
            </a:p>
          </p:txBody>
        </p:sp>
      </p:grpSp>
      <p:grpSp>
        <p:nvGrpSpPr>
          <p:cNvPr id="380" name="Group 28"/>
          <p:cNvGrpSpPr/>
          <p:nvPr/>
        </p:nvGrpSpPr>
        <p:grpSpPr>
          <a:xfrm>
            <a:off x="977740" y="5986264"/>
            <a:ext cx="508159" cy="543806"/>
            <a:chOff x="0" y="0"/>
            <a:chExt cx="508157" cy="543804"/>
          </a:xfrm>
        </p:grpSpPr>
        <p:sp>
          <p:nvSpPr>
            <p:cNvPr id="378"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79"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7</a:t>
              </a:r>
            </a:p>
          </p:txBody>
        </p:sp>
      </p:grpSp>
      <p:grpSp>
        <p:nvGrpSpPr>
          <p:cNvPr id="383" name="Group 31"/>
          <p:cNvGrpSpPr/>
          <p:nvPr/>
        </p:nvGrpSpPr>
        <p:grpSpPr>
          <a:xfrm>
            <a:off x="977740" y="7760845"/>
            <a:ext cx="508159" cy="543806"/>
            <a:chOff x="0" y="0"/>
            <a:chExt cx="508157" cy="543804"/>
          </a:xfrm>
        </p:grpSpPr>
        <p:sp>
          <p:nvSpPr>
            <p:cNvPr id="381"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82"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9</a:t>
              </a:r>
            </a:p>
          </p:txBody>
        </p:sp>
      </p:grpSp>
      <p:sp>
        <p:nvSpPr>
          <p:cNvPr id="384" name="Freeform 34"/>
          <p:cNvSpPr/>
          <p:nvPr/>
        </p:nvSpPr>
        <p:spPr>
          <a:xfrm>
            <a:off x="16313419" y="1028700"/>
            <a:ext cx="945881" cy="236470"/>
          </a:xfrm>
          <a:prstGeom prst="rect">
            <a:avLst/>
          </a:prstGeom>
          <a:blipFill>
            <a:blip r:embed="rId2"/>
            <a:stretch>
              <a:fillRect/>
            </a:stretch>
          </a:blipFill>
          <a:ln w="12700">
            <a:miter lim="400000"/>
          </a:ln>
        </p:spPr>
        <p:txBody>
          <a:bodyPr lIns="45719" rIns="45719"/>
          <a:lstStyle/>
          <a:p>
            <a:endParaRPr/>
          </a:p>
        </p:txBody>
      </p:sp>
      <p:sp>
        <p:nvSpPr>
          <p:cNvPr id="385"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endParaRPr/>
          </a:p>
        </p:txBody>
      </p:sp>
      <p:sp>
        <p:nvSpPr>
          <p:cNvPr id="386" name="TextBox 42"/>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4800" b="1">
                <a:solidFill>
                  <a:srgbClr val="0033CC"/>
                </a:solidFill>
                <a:latin typeface="Times New Roman"/>
                <a:ea typeface="Times New Roman"/>
                <a:cs typeface="Times New Roman"/>
                <a:sym typeface="Times New Roman"/>
              </a:defRPr>
            </a:lvl1pPr>
          </a:lstStyle>
          <a:p>
            <a:r>
              <a:t>IMPLEMENTATION SCREENSHOTS</a:t>
            </a:r>
          </a:p>
        </p:txBody>
      </p:sp>
      <p:sp>
        <p:nvSpPr>
          <p:cNvPr id="387" name="TextBox 43"/>
          <p:cNvSpPr txBox="1"/>
          <p:nvPr/>
        </p:nvSpPr>
        <p:spPr>
          <a:xfrm>
            <a:off x="2255519" y="1638300"/>
            <a:ext cx="14990886" cy="75440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800"/>
            </a:pPr>
            <a:r>
              <a:rPr sz="4000" b="1"/>
              <a:t> LOGIN PAGE :</a:t>
            </a:r>
            <a:br/>
            <a:br/>
            <a:br/>
            <a:br/>
            <a:br/>
            <a:br/>
            <a:br/>
            <a:br/>
            <a:br/>
            <a:br/>
            <a:br/>
            <a:br/>
            <a:br/>
            <a:br/>
            <a:br/>
            <a:br/>
            <a:endParaRPr/>
          </a:p>
        </p:txBody>
      </p:sp>
      <p:pic>
        <p:nvPicPr>
          <p:cNvPr id="388" name="Screenshot 2026-04-20 at 7.15.48 AM.png" descr="Screenshot 2026-04-20 at 7.15.48 AM.png"/>
          <p:cNvPicPr>
            <a:picLocks noChangeAspect="1"/>
          </p:cNvPicPr>
          <p:nvPr/>
        </p:nvPicPr>
        <p:blipFill>
          <a:blip r:embed="rId3"/>
          <a:stretch>
            <a:fillRect/>
          </a:stretch>
        </p:blipFill>
        <p:spPr>
          <a:xfrm>
            <a:off x="2511975" y="2539711"/>
            <a:ext cx="11755609" cy="6845193"/>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392" name="Group 7"/>
          <p:cNvGrpSpPr/>
          <p:nvPr/>
        </p:nvGrpSpPr>
        <p:grpSpPr>
          <a:xfrm>
            <a:off x="735587" y="6653893"/>
            <a:ext cx="992464" cy="992464"/>
            <a:chOff x="0" y="0"/>
            <a:chExt cx="992462" cy="992462"/>
          </a:xfrm>
        </p:grpSpPr>
        <p:sp>
          <p:nvSpPr>
            <p:cNvPr id="390"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391"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400" b="1">
                  <a:solidFill>
                    <a:srgbClr val="002060"/>
                  </a:solidFill>
                  <a:latin typeface="Gotham"/>
                  <a:ea typeface="Gotham"/>
                  <a:cs typeface="Gotham"/>
                  <a:sym typeface="Gotham"/>
                </a:defRPr>
              </a:lvl1pPr>
            </a:lstStyle>
            <a:p>
              <a:r>
                <a:t>8</a:t>
              </a:r>
            </a:p>
          </p:txBody>
        </p:sp>
      </p:grpSp>
      <p:grpSp>
        <p:nvGrpSpPr>
          <p:cNvPr id="395" name="Group 10"/>
          <p:cNvGrpSpPr/>
          <p:nvPr/>
        </p:nvGrpSpPr>
        <p:grpSpPr>
          <a:xfrm>
            <a:off x="977740" y="3315742"/>
            <a:ext cx="508159" cy="543806"/>
            <a:chOff x="0" y="0"/>
            <a:chExt cx="508157" cy="543804"/>
          </a:xfrm>
        </p:grpSpPr>
        <p:sp>
          <p:nvSpPr>
            <p:cNvPr id="393"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94"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3</a:t>
              </a:r>
            </a:p>
          </p:txBody>
        </p:sp>
      </p:grpSp>
      <p:grpSp>
        <p:nvGrpSpPr>
          <p:cNvPr id="398" name="Group 13"/>
          <p:cNvGrpSpPr/>
          <p:nvPr/>
        </p:nvGrpSpPr>
        <p:grpSpPr>
          <a:xfrm>
            <a:off x="977740" y="1982348"/>
            <a:ext cx="508159" cy="543806"/>
            <a:chOff x="0" y="0"/>
            <a:chExt cx="508157" cy="543804"/>
          </a:xfrm>
        </p:grpSpPr>
        <p:sp>
          <p:nvSpPr>
            <p:cNvPr id="396"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397"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1</a:t>
              </a:r>
            </a:p>
          </p:txBody>
        </p:sp>
      </p:grpSp>
      <p:grpSp>
        <p:nvGrpSpPr>
          <p:cNvPr id="401" name="Group 16"/>
          <p:cNvGrpSpPr/>
          <p:nvPr/>
        </p:nvGrpSpPr>
        <p:grpSpPr>
          <a:xfrm>
            <a:off x="977740" y="3983373"/>
            <a:ext cx="508159" cy="543806"/>
            <a:chOff x="0" y="0"/>
            <a:chExt cx="508157" cy="543804"/>
          </a:xfrm>
        </p:grpSpPr>
        <p:sp>
          <p:nvSpPr>
            <p:cNvPr id="399"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00"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4</a:t>
              </a:r>
            </a:p>
          </p:txBody>
        </p:sp>
      </p:grpSp>
      <p:grpSp>
        <p:nvGrpSpPr>
          <p:cNvPr id="404" name="Group 19"/>
          <p:cNvGrpSpPr/>
          <p:nvPr/>
        </p:nvGrpSpPr>
        <p:grpSpPr>
          <a:xfrm>
            <a:off x="977740" y="2648112"/>
            <a:ext cx="508159" cy="543806"/>
            <a:chOff x="0" y="0"/>
            <a:chExt cx="508157" cy="543804"/>
          </a:xfrm>
        </p:grpSpPr>
        <p:sp>
          <p:nvSpPr>
            <p:cNvPr id="402"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03"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2</a:t>
              </a:r>
            </a:p>
          </p:txBody>
        </p:sp>
      </p:grpSp>
      <p:grpSp>
        <p:nvGrpSpPr>
          <p:cNvPr id="407" name="Group 22"/>
          <p:cNvGrpSpPr/>
          <p:nvPr/>
        </p:nvGrpSpPr>
        <p:grpSpPr>
          <a:xfrm>
            <a:off x="977740" y="5318633"/>
            <a:ext cx="508159" cy="543806"/>
            <a:chOff x="0" y="0"/>
            <a:chExt cx="508157" cy="543804"/>
          </a:xfrm>
        </p:grpSpPr>
        <p:sp>
          <p:nvSpPr>
            <p:cNvPr id="405"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06"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6</a:t>
              </a:r>
            </a:p>
          </p:txBody>
        </p:sp>
      </p:grpSp>
      <p:grpSp>
        <p:nvGrpSpPr>
          <p:cNvPr id="410" name="Group 25"/>
          <p:cNvGrpSpPr/>
          <p:nvPr/>
        </p:nvGrpSpPr>
        <p:grpSpPr>
          <a:xfrm>
            <a:off x="977740" y="4651002"/>
            <a:ext cx="508159" cy="543806"/>
            <a:chOff x="0" y="0"/>
            <a:chExt cx="508157" cy="543804"/>
          </a:xfrm>
        </p:grpSpPr>
        <p:sp>
          <p:nvSpPr>
            <p:cNvPr id="408"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09"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5</a:t>
              </a:r>
            </a:p>
          </p:txBody>
        </p:sp>
      </p:grpSp>
      <p:grpSp>
        <p:nvGrpSpPr>
          <p:cNvPr id="413" name="Group 28"/>
          <p:cNvGrpSpPr/>
          <p:nvPr/>
        </p:nvGrpSpPr>
        <p:grpSpPr>
          <a:xfrm>
            <a:off x="977740" y="5986264"/>
            <a:ext cx="508159" cy="543806"/>
            <a:chOff x="0" y="0"/>
            <a:chExt cx="508157" cy="543804"/>
          </a:xfrm>
        </p:grpSpPr>
        <p:sp>
          <p:nvSpPr>
            <p:cNvPr id="411"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12"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7</a:t>
              </a:r>
            </a:p>
          </p:txBody>
        </p:sp>
      </p:grpSp>
      <p:grpSp>
        <p:nvGrpSpPr>
          <p:cNvPr id="416" name="Group 31"/>
          <p:cNvGrpSpPr/>
          <p:nvPr/>
        </p:nvGrpSpPr>
        <p:grpSpPr>
          <a:xfrm>
            <a:off x="977740" y="7760845"/>
            <a:ext cx="508159" cy="543806"/>
            <a:chOff x="0" y="0"/>
            <a:chExt cx="508157" cy="543804"/>
          </a:xfrm>
        </p:grpSpPr>
        <p:sp>
          <p:nvSpPr>
            <p:cNvPr id="414"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15"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9</a:t>
              </a:r>
            </a:p>
          </p:txBody>
        </p:sp>
      </p:grpSp>
      <p:sp>
        <p:nvSpPr>
          <p:cNvPr id="417" name="Freeform 34"/>
          <p:cNvSpPr/>
          <p:nvPr/>
        </p:nvSpPr>
        <p:spPr>
          <a:xfrm>
            <a:off x="16313419" y="1028700"/>
            <a:ext cx="945881" cy="236470"/>
          </a:xfrm>
          <a:prstGeom prst="rect">
            <a:avLst/>
          </a:prstGeom>
          <a:blipFill>
            <a:blip r:embed="rId2"/>
            <a:stretch>
              <a:fillRect/>
            </a:stretch>
          </a:blipFill>
          <a:ln w="12700">
            <a:miter lim="400000"/>
          </a:ln>
        </p:spPr>
        <p:txBody>
          <a:bodyPr lIns="45719" rIns="45719"/>
          <a:lstStyle/>
          <a:p>
            <a:endParaRPr/>
          </a:p>
        </p:txBody>
      </p:sp>
      <p:sp>
        <p:nvSpPr>
          <p:cNvPr id="418"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endParaRPr/>
          </a:p>
        </p:txBody>
      </p:sp>
      <p:sp>
        <p:nvSpPr>
          <p:cNvPr id="419" name="TextBox 42"/>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4800" b="1">
                <a:solidFill>
                  <a:srgbClr val="0033CC"/>
                </a:solidFill>
                <a:latin typeface="Times New Roman"/>
                <a:ea typeface="Times New Roman"/>
                <a:cs typeface="Times New Roman"/>
                <a:sym typeface="Times New Roman"/>
              </a:defRPr>
            </a:lvl1pPr>
          </a:lstStyle>
          <a:p>
            <a:r>
              <a:t>IMPLEMENTATION SCREENSHOTS</a:t>
            </a:r>
          </a:p>
        </p:txBody>
      </p:sp>
      <p:sp>
        <p:nvSpPr>
          <p:cNvPr id="420" name="TextBox 43"/>
          <p:cNvSpPr txBox="1"/>
          <p:nvPr/>
        </p:nvSpPr>
        <p:spPr>
          <a:xfrm>
            <a:off x="2255519" y="1638300"/>
            <a:ext cx="14990886" cy="75440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800"/>
            </a:pPr>
            <a:r>
              <a:rPr sz="4000" b="1"/>
              <a:t> HOME PAGE :</a:t>
            </a:r>
            <a:br/>
            <a:br/>
            <a:br/>
            <a:br/>
            <a:br/>
            <a:br/>
            <a:br/>
            <a:br/>
            <a:br/>
            <a:br/>
            <a:br/>
            <a:br/>
            <a:br/>
            <a:br/>
            <a:br/>
            <a:br/>
            <a:endParaRPr/>
          </a:p>
        </p:txBody>
      </p:sp>
      <p:pic>
        <p:nvPicPr>
          <p:cNvPr id="421" name="Screenshot 2026-04-20 at 7.16.33 AM.png" descr="Screenshot 2026-04-20 at 7.16.33 AM.png"/>
          <p:cNvPicPr>
            <a:picLocks noChangeAspect="1"/>
          </p:cNvPicPr>
          <p:nvPr/>
        </p:nvPicPr>
        <p:blipFill>
          <a:blip r:embed="rId3"/>
          <a:stretch>
            <a:fillRect/>
          </a:stretch>
        </p:blipFill>
        <p:spPr>
          <a:xfrm>
            <a:off x="3439374" y="2324710"/>
            <a:ext cx="12044484" cy="7013403"/>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425" name="Group 7"/>
          <p:cNvGrpSpPr/>
          <p:nvPr/>
        </p:nvGrpSpPr>
        <p:grpSpPr>
          <a:xfrm>
            <a:off x="735587" y="6653893"/>
            <a:ext cx="992464" cy="992464"/>
            <a:chOff x="0" y="0"/>
            <a:chExt cx="992462" cy="992462"/>
          </a:xfrm>
        </p:grpSpPr>
        <p:sp>
          <p:nvSpPr>
            <p:cNvPr id="423"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424"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400" b="1">
                  <a:solidFill>
                    <a:srgbClr val="002060"/>
                  </a:solidFill>
                  <a:latin typeface="Gotham"/>
                  <a:ea typeface="Gotham"/>
                  <a:cs typeface="Gotham"/>
                  <a:sym typeface="Gotham"/>
                </a:defRPr>
              </a:lvl1pPr>
            </a:lstStyle>
            <a:p>
              <a:r>
                <a:t>8(A)</a:t>
              </a:r>
            </a:p>
          </p:txBody>
        </p:sp>
      </p:grpSp>
      <p:grpSp>
        <p:nvGrpSpPr>
          <p:cNvPr id="428" name="Group 10"/>
          <p:cNvGrpSpPr/>
          <p:nvPr/>
        </p:nvGrpSpPr>
        <p:grpSpPr>
          <a:xfrm>
            <a:off x="977740" y="3315742"/>
            <a:ext cx="508159" cy="543806"/>
            <a:chOff x="0" y="0"/>
            <a:chExt cx="508157" cy="543804"/>
          </a:xfrm>
        </p:grpSpPr>
        <p:sp>
          <p:nvSpPr>
            <p:cNvPr id="426"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27"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3</a:t>
              </a:r>
            </a:p>
          </p:txBody>
        </p:sp>
      </p:grpSp>
      <p:grpSp>
        <p:nvGrpSpPr>
          <p:cNvPr id="431" name="Group 13"/>
          <p:cNvGrpSpPr/>
          <p:nvPr/>
        </p:nvGrpSpPr>
        <p:grpSpPr>
          <a:xfrm>
            <a:off x="977740" y="1982348"/>
            <a:ext cx="508159" cy="543806"/>
            <a:chOff x="0" y="0"/>
            <a:chExt cx="508157" cy="543804"/>
          </a:xfrm>
        </p:grpSpPr>
        <p:sp>
          <p:nvSpPr>
            <p:cNvPr id="429"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30"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1</a:t>
              </a:r>
            </a:p>
          </p:txBody>
        </p:sp>
      </p:grpSp>
      <p:grpSp>
        <p:nvGrpSpPr>
          <p:cNvPr id="434" name="Group 16"/>
          <p:cNvGrpSpPr/>
          <p:nvPr/>
        </p:nvGrpSpPr>
        <p:grpSpPr>
          <a:xfrm>
            <a:off x="977740" y="3983373"/>
            <a:ext cx="508159" cy="543806"/>
            <a:chOff x="0" y="0"/>
            <a:chExt cx="508157" cy="543804"/>
          </a:xfrm>
        </p:grpSpPr>
        <p:sp>
          <p:nvSpPr>
            <p:cNvPr id="432"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33"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4</a:t>
              </a:r>
            </a:p>
          </p:txBody>
        </p:sp>
      </p:grpSp>
      <p:grpSp>
        <p:nvGrpSpPr>
          <p:cNvPr id="437" name="Group 19"/>
          <p:cNvGrpSpPr/>
          <p:nvPr/>
        </p:nvGrpSpPr>
        <p:grpSpPr>
          <a:xfrm>
            <a:off x="977740" y="2648112"/>
            <a:ext cx="508159" cy="543806"/>
            <a:chOff x="0" y="0"/>
            <a:chExt cx="508157" cy="543804"/>
          </a:xfrm>
        </p:grpSpPr>
        <p:sp>
          <p:nvSpPr>
            <p:cNvPr id="435"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36"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2</a:t>
              </a:r>
            </a:p>
          </p:txBody>
        </p:sp>
      </p:grpSp>
      <p:grpSp>
        <p:nvGrpSpPr>
          <p:cNvPr id="440" name="Group 22"/>
          <p:cNvGrpSpPr/>
          <p:nvPr/>
        </p:nvGrpSpPr>
        <p:grpSpPr>
          <a:xfrm>
            <a:off x="977740" y="5318633"/>
            <a:ext cx="508159" cy="543806"/>
            <a:chOff x="0" y="0"/>
            <a:chExt cx="508157" cy="543804"/>
          </a:xfrm>
        </p:grpSpPr>
        <p:sp>
          <p:nvSpPr>
            <p:cNvPr id="438"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39"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6</a:t>
              </a:r>
            </a:p>
          </p:txBody>
        </p:sp>
      </p:grpSp>
      <p:grpSp>
        <p:nvGrpSpPr>
          <p:cNvPr id="443" name="Group 25"/>
          <p:cNvGrpSpPr/>
          <p:nvPr/>
        </p:nvGrpSpPr>
        <p:grpSpPr>
          <a:xfrm>
            <a:off x="977740" y="4651002"/>
            <a:ext cx="508159" cy="543806"/>
            <a:chOff x="0" y="0"/>
            <a:chExt cx="508157" cy="543804"/>
          </a:xfrm>
        </p:grpSpPr>
        <p:sp>
          <p:nvSpPr>
            <p:cNvPr id="441"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42"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5</a:t>
              </a:r>
            </a:p>
          </p:txBody>
        </p:sp>
      </p:grpSp>
      <p:grpSp>
        <p:nvGrpSpPr>
          <p:cNvPr id="446" name="Group 28"/>
          <p:cNvGrpSpPr/>
          <p:nvPr/>
        </p:nvGrpSpPr>
        <p:grpSpPr>
          <a:xfrm>
            <a:off x="977740" y="5986264"/>
            <a:ext cx="508159" cy="543806"/>
            <a:chOff x="0" y="0"/>
            <a:chExt cx="508157" cy="543804"/>
          </a:xfrm>
        </p:grpSpPr>
        <p:sp>
          <p:nvSpPr>
            <p:cNvPr id="444"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45"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7</a:t>
              </a:r>
            </a:p>
          </p:txBody>
        </p:sp>
      </p:grpSp>
      <p:grpSp>
        <p:nvGrpSpPr>
          <p:cNvPr id="449" name="Group 31"/>
          <p:cNvGrpSpPr/>
          <p:nvPr/>
        </p:nvGrpSpPr>
        <p:grpSpPr>
          <a:xfrm>
            <a:off x="977740" y="7760845"/>
            <a:ext cx="508159" cy="543806"/>
            <a:chOff x="0" y="0"/>
            <a:chExt cx="508157" cy="543804"/>
          </a:xfrm>
        </p:grpSpPr>
        <p:sp>
          <p:nvSpPr>
            <p:cNvPr id="447"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48"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9</a:t>
              </a:r>
            </a:p>
          </p:txBody>
        </p:sp>
      </p:grpSp>
      <p:sp>
        <p:nvSpPr>
          <p:cNvPr id="450" name="Freeform 34"/>
          <p:cNvSpPr/>
          <p:nvPr/>
        </p:nvSpPr>
        <p:spPr>
          <a:xfrm>
            <a:off x="16313419" y="1028700"/>
            <a:ext cx="945881" cy="236470"/>
          </a:xfrm>
          <a:prstGeom prst="rect">
            <a:avLst/>
          </a:prstGeom>
          <a:blipFill>
            <a:blip r:embed="rId2"/>
            <a:stretch>
              <a:fillRect/>
            </a:stretch>
          </a:blipFill>
          <a:ln w="12700">
            <a:miter lim="400000"/>
          </a:ln>
        </p:spPr>
        <p:txBody>
          <a:bodyPr lIns="45719" rIns="45719"/>
          <a:lstStyle/>
          <a:p>
            <a:endParaRPr/>
          </a:p>
        </p:txBody>
      </p:sp>
      <p:sp>
        <p:nvSpPr>
          <p:cNvPr id="451"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endParaRPr/>
          </a:p>
        </p:txBody>
      </p:sp>
      <p:sp>
        <p:nvSpPr>
          <p:cNvPr id="452" name="TextBox 42"/>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4800" b="1">
                <a:solidFill>
                  <a:srgbClr val="0033CC"/>
                </a:solidFill>
                <a:latin typeface="Times New Roman"/>
                <a:ea typeface="Times New Roman"/>
                <a:cs typeface="Times New Roman"/>
                <a:sym typeface="Times New Roman"/>
              </a:defRPr>
            </a:lvl1pPr>
          </a:lstStyle>
          <a:p>
            <a:r>
              <a:t>IMPLEMENTATION SCREENSHOTS</a:t>
            </a:r>
          </a:p>
        </p:txBody>
      </p:sp>
      <p:sp>
        <p:nvSpPr>
          <p:cNvPr id="453" name="TextBox 43"/>
          <p:cNvSpPr txBox="1"/>
          <p:nvPr/>
        </p:nvSpPr>
        <p:spPr>
          <a:xfrm>
            <a:off x="2255519" y="1638300"/>
            <a:ext cx="14990886" cy="79758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800" b="1"/>
            </a:pPr>
            <a:r>
              <a:rPr sz="4000"/>
              <a:t> ADMIN PAGE :</a:t>
            </a:r>
            <a:br/>
            <a:br/>
            <a:br/>
            <a:br/>
            <a:br/>
            <a:br/>
            <a:br/>
            <a:br/>
            <a:br/>
            <a:br/>
            <a:br/>
            <a:br/>
            <a:br/>
            <a:br/>
            <a:br/>
            <a:br/>
            <a:br/>
            <a:endParaRPr/>
          </a:p>
        </p:txBody>
      </p:sp>
      <p:pic>
        <p:nvPicPr>
          <p:cNvPr id="454" name="Screenshot 2026-04-20 at 7.17.48 AM.png" descr="Screenshot 2026-04-20 at 7.17.48 AM.png"/>
          <p:cNvPicPr>
            <a:picLocks noChangeAspect="1"/>
          </p:cNvPicPr>
          <p:nvPr/>
        </p:nvPicPr>
        <p:blipFill>
          <a:blip r:embed="rId3"/>
          <a:stretch>
            <a:fillRect/>
          </a:stretch>
        </p:blipFill>
        <p:spPr>
          <a:xfrm>
            <a:off x="2797456" y="2246801"/>
            <a:ext cx="12804481" cy="7455943"/>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458" name="Group 7"/>
          <p:cNvGrpSpPr/>
          <p:nvPr/>
        </p:nvGrpSpPr>
        <p:grpSpPr>
          <a:xfrm>
            <a:off x="735587" y="6653893"/>
            <a:ext cx="992464" cy="992464"/>
            <a:chOff x="0" y="0"/>
            <a:chExt cx="992462" cy="992462"/>
          </a:xfrm>
        </p:grpSpPr>
        <p:sp>
          <p:nvSpPr>
            <p:cNvPr id="456"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457"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400" b="1">
                  <a:solidFill>
                    <a:srgbClr val="002060"/>
                  </a:solidFill>
                  <a:latin typeface="Gotham"/>
                  <a:ea typeface="Gotham"/>
                  <a:cs typeface="Gotham"/>
                  <a:sym typeface="Gotham"/>
                </a:defRPr>
              </a:lvl1pPr>
            </a:lstStyle>
            <a:p>
              <a:r>
                <a:t>8(B)</a:t>
              </a:r>
            </a:p>
          </p:txBody>
        </p:sp>
      </p:grpSp>
      <p:grpSp>
        <p:nvGrpSpPr>
          <p:cNvPr id="461" name="Group 10"/>
          <p:cNvGrpSpPr/>
          <p:nvPr/>
        </p:nvGrpSpPr>
        <p:grpSpPr>
          <a:xfrm>
            <a:off x="977740" y="3315742"/>
            <a:ext cx="508159" cy="543806"/>
            <a:chOff x="0" y="0"/>
            <a:chExt cx="508157" cy="543804"/>
          </a:xfrm>
        </p:grpSpPr>
        <p:sp>
          <p:nvSpPr>
            <p:cNvPr id="459"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60"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3</a:t>
              </a:r>
            </a:p>
          </p:txBody>
        </p:sp>
      </p:grpSp>
      <p:grpSp>
        <p:nvGrpSpPr>
          <p:cNvPr id="464" name="Group 13"/>
          <p:cNvGrpSpPr/>
          <p:nvPr/>
        </p:nvGrpSpPr>
        <p:grpSpPr>
          <a:xfrm>
            <a:off x="977740" y="1982348"/>
            <a:ext cx="508159" cy="543806"/>
            <a:chOff x="0" y="0"/>
            <a:chExt cx="508157" cy="543804"/>
          </a:xfrm>
        </p:grpSpPr>
        <p:sp>
          <p:nvSpPr>
            <p:cNvPr id="462"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63"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1</a:t>
              </a:r>
            </a:p>
          </p:txBody>
        </p:sp>
      </p:grpSp>
      <p:grpSp>
        <p:nvGrpSpPr>
          <p:cNvPr id="467" name="Group 16"/>
          <p:cNvGrpSpPr/>
          <p:nvPr/>
        </p:nvGrpSpPr>
        <p:grpSpPr>
          <a:xfrm>
            <a:off x="977740" y="3983373"/>
            <a:ext cx="508159" cy="543806"/>
            <a:chOff x="0" y="0"/>
            <a:chExt cx="508157" cy="543804"/>
          </a:xfrm>
        </p:grpSpPr>
        <p:sp>
          <p:nvSpPr>
            <p:cNvPr id="465"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66"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4</a:t>
              </a:r>
            </a:p>
          </p:txBody>
        </p:sp>
      </p:grpSp>
      <p:grpSp>
        <p:nvGrpSpPr>
          <p:cNvPr id="470" name="Group 19"/>
          <p:cNvGrpSpPr/>
          <p:nvPr/>
        </p:nvGrpSpPr>
        <p:grpSpPr>
          <a:xfrm>
            <a:off x="977740" y="2648112"/>
            <a:ext cx="508159" cy="543806"/>
            <a:chOff x="0" y="0"/>
            <a:chExt cx="508157" cy="543804"/>
          </a:xfrm>
        </p:grpSpPr>
        <p:sp>
          <p:nvSpPr>
            <p:cNvPr id="468"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69"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2</a:t>
              </a:r>
            </a:p>
          </p:txBody>
        </p:sp>
      </p:grpSp>
      <p:grpSp>
        <p:nvGrpSpPr>
          <p:cNvPr id="473" name="Group 22"/>
          <p:cNvGrpSpPr/>
          <p:nvPr/>
        </p:nvGrpSpPr>
        <p:grpSpPr>
          <a:xfrm>
            <a:off x="977740" y="5318633"/>
            <a:ext cx="508159" cy="543806"/>
            <a:chOff x="0" y="0"/>
            <a:chExt cx="508157" cy="543804"/>
          </a:xfrm>
        </p:grpSpPr>
        <p:sp>
          <p:nvSpPr>
            <p:cNvPr id="471"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72"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6</a:t>
              </a:r>
            </a:p>
          </p:txBody>
        </p:sp>
      </p:grpSp>
      <p:grpSp>
        <p:nvGrpSpPr>
          <p:cNvPr id="476" name="Group 25"/>
          <p:cNvGrpSpPr/>
          <p:nvPr/>
        </p:nvGrpSpPr>
        <p:grpSpPr>
          <a:xfrm>
            <a:off x="977740" y="4651002"/>
            <a:ext cx="508159" cy="543806"/>
            <a:chOff x="0" y="0"/>
            <a:chExt cx="508157" cy="543804"/>
          </a:xfrm>
        </p:grpSpPr>
        <p:sp>
          <p:nvSpPr>
            <p:cNvPr id="474"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75"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5</a:t>
              </a:r>
            </a:p>
          </p:txBody>
        </p:sp>
      </p:grpSp>
      <p:grpSp>
        <p:nvGrpSpPr>
          <p:cNvPr id="479" name="Group 28"/>
          <p:cNvGrpSpPr/>
          <p:nvPr/>
        </p:nvGrpSpPr>
        <p:grpSpPr>
          <a:xfrm>
            <a:off x="977740" y="5986264"/>
            <a:ext cx="508159" cy="543806"/>
            <a:chOff x="0" y="0"/>
            <a:chExt cx="508157" cy="543804"/>
          </a:xfrm>
        </p:grpSpPr>
        <p:sp>
          <p:nvSpPr>
            <p:cNvPr id="477"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78"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7</a:t>
              </a:r>
            </a:p>
          </p:txBody>
        </p:sp>
      </p:grpSp>
      <p:grpSp>
        <p:nvGrpSpPr>
          <p:cNvPr id="482" name="Group 31"/>
          <p:cNvGrpSpPr/>
          <p:nvPr/>
        </p:nvGrpSpPr>
        <p:grpSpPr>
          <a:xfrm>
            <a:off x="977740" y="7760845"/>
            <a:ext cx="508159" cy="543806"/>
            <a:chOff x="0" y="0"/>
            <a:chExt cx="508157" cy="543804"/>
          </a:xfrm>
        </p:grpSpPr>
        <p:sp>
          <p:nvSpPr>
            <p:cNvPr id="480"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81"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9</a:t>
              </a:r>
            </a:p>
          </p:txBody>
        </p:sp>
      </p:grpSp>
      <p:sp>
        <p:nvSpPr>
          <p:cNvPr id="483" name="Freeform 34"/>
          <p:cNvSpPr/>
          <p:nvPr/>
        </p:nvSpPr>
        <p:spPr>
          <a:xfrm>
            <a:off x="16313419" y="1028700"/>
            <a:ext cx="945881" cy="236470"/>
          </a:xfrm>
          <a:prstGeom prst="rect">
            <a:avLst/>
          </a:prstGeom>
          <a:blipFill>
            <a:blip r:embed="rId2"/>
            <a:stretch>
              <a:fillRect/>
            </a:stretch>
          </a:blipFill>
          <a:ln w="12700">
            <a:miter lim="400000"/>
          </a:ln>
        </p:spPr>
        <p:txBody>
          <a:bodyPr lIns="45719" rIns="45719"/>
          <a:lstStyle/>
          <a:p>
            <a:endParaRPr/>
          </a:p>
        </p:txBody>
      </p:sp>
      <p:sp>
        <p:nvSpPr>
          <p:cNvPr id="484"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endParaRPr/>
          </a:p>
        </p:txBody>
      </p:sp>
      <p:sp>
        <p:nvSpPr>
          <p:cNvPr id="485" name="TextBox 42"/>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4800" b="1">
                <a:solidFill>
                  <a:srgbClr val="0033CC"/>
                </a:solidFill>
                <a:latin typeface="Times New Roman"/>
                <a:ea typeface="Times New Roman"/>
                <a:cs typeface="Times New Roman"/>
                <a:sym typeface="Times New Roman"/>
              </a:defRPr>
            </a:lvl1pPr>
          </a:lstStyle>
          <a:p>
            <a:r>
              <a:t>IMPLEMENTATION SCREENSHOTS</a:t>
            </a:r>
          </a:p>
        </p:txBody>
      </p:sp>
      <p:sp>
        <p:nvSpPr>
          <p:cNvPr id="486" name="TextBox 43"/>
          <p:cNvSpPr txBox="1"/>
          <p:nvPr/>
        </p:nvSpPr>
        <p:spPr>
          <a:xfrm>
            <a:off x="2255519" y="1638300"/>
            <a:ext cx="14990886" cy="79758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800" b="1"/>
            </a:pPr>
            <a:r>
              <a:rPr sz="4000"/>
              <a:t>STUDENT PORTAL PAGE :</a:t>
            </a:r>
            <a:br/>
            <a:br/>
            <a:br/>
            <a:br/>
            <a:br/>
            <a:br/>
            <a:br/>
            <a:br/>
            <a:br/>
            <a:br/>
            <a:br/>
            <a:br/>
            <a:br/>
            <a:br/>
            <a:br/>
            <a:br/>
            <a:br/>
            <a:endParaRPr/>
          </a:p>
        </p:txBody>
      </p:sp>
      <p:pic>
        <p:nvPicPr>
          <p:cNvPr id="487" name="Screenshot 2026-04-20 at 7.20.16 AM.png" descr="Screenshot 2026-04-20 at 7.20.16 AM.png"/>
          <p:cNvPicPr>
            <a:picLocks noChangeAspect="1"/>
          </p:cNvPicPr>
          <p:nvPr/>
        </p:nvPicPr>
        <p:blipFill>
          <a:blip r:embed="rId3"/>
          <a:stretch>
            <a:fillRect/>
          </a:stretch>
        </p:blipFill>
        <p:spPr>
          <a:xfrm>
            <a:off x="3316487" y="2422276"/>
            <a:ext cx="12008572" cy="6992492"/>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491" name="Group 7"/>
          <p:cNvGrpSpPr/>
          <p:nvPr/>
        </p:nvGrpSpPr>
        <p:grpSpPr>
          <a:xfrm>
            <a:off x="735587" y="6653893"/>
            <a:ext cx="992464" cy="992464"/>
            <a:chOff x="0" y="0"/>
            <a:chExt cx="992462" cy="992462"/>
          </a:xfrm>
        </p:grpSpPr>
        <p:sp>
          <p:nvSpPr>
            <p:cNvPr id="489"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490"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400" b="1">
                  <a:solidFill>
                    <a:srgbClr val="002060"/>
                  </a:solidFill>
                  <a:latin typeface="Gotham"/>
                  <a:ea typeface="Gotham"/>
                  <a:cs typeface="Gotham"/>
                  <a:sym typeface="Gotham"/>
                </a:defRPr>
              </a:lvl1pPr>
            </a:lstStyle>
            <a:p>
              <a:r>
                <a:t>8(C)</a:t>
              </a:r>
            </a:p>
          </p:txBody>
        </p:sp>
      </p:grpSp>
      <p:grpSp>
        <p:nvGrpSpPr>
          <p:cNvPr id="494" name="Group 10"/>
          <p:cNvGrpSpPr/>
          <p:nvPr/>
        </p:nvGrpSpPr>
        <p:grpSpPr>
          <a:xfrm>
            <a:off x="977740" y="3315742"/>
            <a:ext cx="508159" cy="543806"/>
            <a:chOff x="0" y="0"/>
            <a:chExt cx="508157" cy="543804"/>
          </a:xfrm>
        </p:grpSpPr>
        <p:sp>
          <p:nvSpPr>
            <p:cNvPr id="492"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93"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3</a:t>
              </a:r>
            </a:p>
          </p:txBody>
        </p:sp>
      </p:grpSp>
      <p:grpSp>
        <p:nvGrpSpPr>
          <p:cNvPr id="497" name="Group 13"/>
          <p:cNvGrpSpPr/>
          <p:nvPr/>
        </p:nvGrpSpPr>
        <p:grpSpPr>
          <a:xfrm>
            <a:off x="977740" y="1982348"/>
            <a:ext cx="508159" cy="543806"/>
            <a:chOff x="0" y="0"/>
            <a:chExt cx="508157" cy="543804"/>
          </a:xfrm>
        </p:grpSpPr>
        <p:sp>
          <p:nvSpPr>
            <p:cNvPr id="495"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96"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1</a:t>
              </a:r>
            </a:p>
          </p:txBody>
        </p:sp>
      </p:grpSp>
      <p:grpSp>
        <p:nvGrpSpPr>
          <p:cNvPr id="500" name="Group 16"/>
          <p:cNvGrpSpPr/>
          <p:nvPr/>
        </p:nvGrpSpPr>
        <p:grpSpPr>
          <a:xfrm>
            <a:off x="977740" y="3983373"/>
            <a:ext cx="508159" cy="543806"/>
            <a:chOff x="0" y="0"/>
            <a:chExt cx="508157" cy="543804"/>
          </a:xfrm>
        </p:grpSpPr>
        <p:sp>
          <p:nvSpPr>
            <p:cNvPr id="498"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499"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4</a:t>
              </a:r>
            </a:p>
          </p:txBody>
        </p:sp>
      </p:grpSp>
      <p:grpSp>
        <p:nvGrpSpPr>
          <p:cNvPr id="503" name="Group 19"/>
          <p:cNvGrpSpPr/>
          <p:nvPr/>
        </p:nvGrpSpPr>
        <p:grpSpPr>
          <a:xfrm>
            <a:off x="977740" y="2648112"/>
            <a:ext cx="508159" cy="543806"/>
            <a:chOff x="0" y="0"/>
            <a:chExt cx="508157" cy="543804"/>
          </a:xfrm>
        </p:grpSpPr>
        <p:sp>
          <p:nvSpPr>
            <p:cNvPr id="501"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502"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2</a:t>
              </a:r>
            </a:p>
          </p:txBody>
        </p:sp>
      </p:grpSp>
      <p:grpSp>
        <p:nvGrpSpPr>
          <p:cNvPr id="506" name="Group 22"/>
          <p:cNvGrpSpPr/>
          <p:nvPr/>
        </p:nvGrpSpPr>
        <p:grpSpPr>
          <a:xfrm>
            <a:off x="977740" y="5318633"/>
            <a:ext cx="508159" cy="543806"/>
            <a:chOff x="0" y="0"/>
            <a:chExt cx="508157" cy="543804"/>
          </a:xfrm>
        </p:grpSpPr>
        <p:sp>
          <p:nvSpPr>
            <p:cNvPr id="504"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505"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6</a:t>
              </a:r>
            </a:p>
          </p:txBody>
        </p:sp>
      </p:grpSp>
      <p:grpSp>
        <p:nvGrpSpPr>
          <p:cNvPr id="509" name="Group 25"/>
          <p:cNvGrpSpPr/>
          <p:nvPr/>
        </p:nvGrpSpPr>
        <p:grpSpPr>
          <a:xfrm>
            <a:off x="977740" y="4651002"/>
            <a:ext cx="508159" cy="543806"/>
            <a:chOff x="0" y="0"/>
            <a:chExt cx="508157" cy="543804"/>
          </a:xfrm>
        </p:grpSpPr>
        <p:sp>
          <p:nvSpPr>
            <p:cNvPr id="507"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508"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5</a:t>
              </a:r>
            </a:p>
          </p:txBody>
        </p:sp>
      </p:grpSp>
      <p:grpSp>
        <p:nvGrpSpPr>
          <p:cNvPr id="512" name="Group 28"/>
          <p:cNvGrpSpPr/>
          <p:nvPr/>
        </p:nvGrpSpPr>
        <p:grpSpPr>
          <a:xfrm>
            <a:off x="977740" y="5986264"/>
            <a:ext cx="508159" cy="543806"/>
            <a:chOff x="0" y="0"/>
            <a:chExt cx="508157" cy="543804"/>
          </a:xfrm>
        </p:grpSpPr>
        <p:sp>
          <p:nvSpPr>
            <p:cNvPr id="510"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511"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7</a:t>
              </a:r>
            </a:p>
          </p:txBody>
        </p:sp>
      </p:grpSp>
      <p:grpSp>
        <p:nvGrpSpPr>
          <p:cNvPr id="515" name="Group 31"/>
          <p:cNvGrpSpPr/>
          <p:nvPr/>
        </p:nvGrpSpPr>
        <p:grpSpPr>
          <a:xfrm>
            <a:off x="977740" y="7760845"/>
            <a:ext cx="508159" cy="543806"/>
            <a:chOff x="0" y="0"/>
            <a:chExt cx="508157" cy="543804"/>
          </a:xfrm>
        </p:grpSpPr>
        <p:sp>
          <p:nvSpPr>
            <p:cNvPr id="513"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514"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9</a:t>
              </a:r>
            </a:p>
          </p:txBody>
        </p:sp>
      </p:grpSp>
      <p:sp>
        <p:nvSpPr>
          <p:cNvPr id="516" name="Freeform 34"/>
          <p:cNvSpPr/>
          <p:nvPr/>
        </p:nvSpPr>
        <p:spPr>
          <a:xfrm>
            <a:off x="16313419" y="1028700"/>
            <a:ext cx="945881" cy="236470"/>
          </a:xfrm>
          <a:prstGeom prst="rect">
            <a:avLst/>
          </a:prstGeom>
          <a:blipFill>
            <a:blip r:embed="rId2"/>
            <a:stretch>
              <a:fillRect/>
            </a:stretch>
          </a:blipFill>
          <a:ln w="12700">
            <a:miter lim="400000"/>
          </a:ln>
        </p:spPr>
        <p:txBody>
          <a:bodyPr lIns="45719" rIns="45719"/>
          <a:lstStyle/>
          <a:p>
            <a:endParaRPr/>
          </a:p>
        </p:txBody>
      </p:sp>
      <p:sp>
        <p:nvSpPr>
          <p:cNvPr id="517"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endParaRPr/>
          </a:p>
        </p:txBody>
      </p:sp>
      <p:sp>
        <p:nvSpPr>
          <p:cNvPr id="518" name="TextBox 42"/>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4800" b="1">
                <a:solidFill>
                  <a:srgbClr val="0033CC"/>
                </a:solidFill>
                <a:latin typeface="Times New Roman"/>
                <a:ea typeface="Times New Roman"/>
                <a:cs typeface="Times New Roman"/>
                <a:sym typeface="Times New Roman"/>
              </a:defRPr>
            </a:lvl1pPr>
          </a:lstStyle>
          <a:p>
            <a:r>
              <a:t>IMPLEMENTATION SCREENSHOTS</a:t>
            </a:r>
          </a:p>
        </p:txBody>
      </p:sp>
      <p:sp>
        <p:nvSpPr>
          <p:cNvPr id="519" name="TextBox 43"/>
          <p:cNvSpPr txBox="1"/>
          <p:nvPr/>
        </p:nvSpPr>
        <p:spPr>
          <a:xfrm>
            <a:off x="2255519" y="1638300"/>
            <a:ext cx="14990886" cy="79758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800" b="1"/>
            </a:pPr>
            <a:r>
              <a:rPr sz="4000"/>
              <a:t>EVENT CREATION PAGE :</a:t>
            </a:r>
            <a:br/>
            <a:br/>
            <a:br/>
            <a:br/>
            <a:br/>
            <a:br/>
            <a:br/>
            <a:br/>
            <a:br/>
            <a:br/>
            <a:br/>
            <a:br/>
            <a:br/>
            <a:br/>
            <a:br/>
            <a:br/>
            <a:br/>
            <a:endParaRPr/>
          </a:p>
        </p:txBody>
      </p:sp>
      <p:pic>
        <p:nvPicPr>
          <p:cNvPr id="520" name="Screenshot 2026-04-20 at 7.21.55 AM.png" descr="Screenshot 2026-04-20 at 7.21.55 AM.png"/>
          <p:cNvPicPr>
            <a:picLocks noChangeAspect="1"/>
          </p:cNvPicPr>
          <p:nvPr/>
        </p:nvPicPr>
        <p:blipFill>
          <a:blip r:embed="rId3"/>
          <a:stretch>
            <a:fillRect/>
          </a:stretch>
        </p:blipFill>
        <p:spPr>
          <a:xfrm>
            <a:off x="3173023" y="2481510"/>
            <a:ext cx="12295500" cy="7172376"/>
          </a:xfrm>
          <a:prstGeom prst="rect">
            <a:avLst/>
          </a:prstGeom>
          <a:ln w="12700">
            <a:miter lim="400000"/>
          </a:ln>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24" name="Group 5"/>
          <p:cNvGrpSpPr/>
          <p:nvPr/>
        </p:nvGrpSpPr>
        <p:grpSpPr>
          <a:xfrm>
            <a:off x="735587" y="7321525"/>
            <a:ext cx="992464" cy="992464"/>
            <a:chOff x="0" y="0"/>
            <a:chExt cx="992462" cy="992462"/>
          </a:xfrm>
        </p:grpSpPr>
        <p:sp>
          <p:nvSpPr>
            <p:cNvPr id="522" name="Freeform 6"/>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endParaRPr/>
            </a:p>
          </p:txBody>
        </p:sp>
        <p:sp>
          <p:nvSpPr>
            <p:cNvPr id="523" name="TextBox 7"/>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r>
                <a:t>9</a:t>
              </a:r>
            </a:p>
          </p:txBody>
        </p:sp>
      </p:grpSp>
      <p:grpSp>
        <p:nvGrpSpPr>
          <p:cNvPr id="527" name="Group 8"/>
          <p:cNvGrpSpPr/>
          <p:nvPr/>
        </p:nvGrpSpPr>
        <p:grpSpPr>
          <a:xfrm>
            <a:off x="977740" y="3315742"/>
            <a:ext cx="508159" cy="543806"/>
            <a:chOff x="0" y="0"/>
            <a:chExt cx="508157" cy="543804"/>
          </a:xfrm>
        </p:grpSpPr>
        <p:sp>
          <p:nvSpPr>
            <p:cNvPr id="525" name="Freeform 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526" name="TextBox 1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3</a:t>
              </a:r>
            </a:p>
          </p:txBody>
        </p:sp>
      </p:grpSp>
      <p:grpSp>
        <p:nvGrpSpPr>
          <p:cNvPr id="530" name="Group 11"/>
          <p:cNvGrpSpPr/>
          <p:nvPr/>
        </p:nvGrpSpPr>
        <p:grpSpPr>
          <a:xfrm>
            <a:off x="977740" y="1982348"/>
            <a:ext cx="508159" cy="543806"/>
            <a:chOff x="0" y="0"/>
            <a:chExt cx="508157" cy="543804"/>
          </a:xfrm>
        </p:grpSpPr>
        <p:sp>
          <p:nvSpPr>
            <p:cNvPr id="528" name="Freeform 1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529" name="TextBox 1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1</a:t>
              </a:r>
            </a:p>
          </p:txBody>
        </p:sp>
      </p:grpSp>
      <p:grpSp>
        <p:nvGrpSpPr>
          <p:cNvPr id="533" name="Group 14"/>
          <p:cNvGrpSpPr/>
          <p:nvPr/>
        </p:nvGrpSpPr>
        <p:grpSpPr>
          <a:xfrm>
            <a:off x="977740" y="3983373"/>
            <a:ext cx="508159" cy="543806"/>
            <a:chOff x="0" y="0"/>
            <a:chExt cx="508157" cy="543804"/>
          </a:xfrm>
        </p:grpSpPr>
        <p:sp>
          <p:nvSpPr>
            <p:cNvPr id="531"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532"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4</a:t>
              </a:r>
            </a:p>
          </p:txBody>
        </p:sp>
      </p:grpSp>
      <p:grpSp>
        <p:nvGrpSpPr>
          <p:cNvPr id="536" name="Group 17"/>
          <p:cNvGrpSpPr/>
          <p:nvPr/>
        </p:nvGrpSpPr>
        <p:grpSpPr>
          <a:xfrm>
            <a:off x="977740" y="2648112"/>
            <a:ext cx="508159" cy="543806"/>
            <a:chOff x="0" y="0"/>
            <a:chExt cx="508157" cy="543804"/>
          </a:xfrm>
        </p:grpSpPr>
        <p:sp>
          <p:nvSpPr>
            <p:cNvPr id="534"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535"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2</a:t>
              </a:r>
            </a:p>
          </p:txBody>
        </p:sp>
      </p:grpSp>
      <p:grpSp>
        <p:nvGrpSpPr>
          <p:cNvPr id="539" name="Group 20"/>
          <p:cNvGrpSpPr/>
          <p:nvPr/>
        </p:nvGrpSpPr>
        <p:grpSpPr>
          <a:xfrm>
            <a:off x="977740" y="5318633"/>
            <a:ext cx="508159" cy="543806"/>
            <a:chOff x="0" y="0"/>
            <a:chExt cx="508157" cy="543804"/>
          </a:xfrm>
        </p:grpSpPr>
        <p:sp>
          <p:nvSpPr>
            <p:cNvPr id="537"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538"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6</a:t>
              </a:r>
            </a:p>
          </p:txBody>
        </p:sp>
      </p:grpSp>
      <p:grpSp>
        <p:nvGrpSpPr>
          <p:cNvPr id="542" name="Group 23"/>
          <p:cNvGrpSpPr/>
          <p:nvPr/>
        </p:nvGrpSpPr>
        <p:grpSpPr>
          <a:xfrm>
            <a:off x="977740" y="4651002"/>
            <a:ext cx="508159" cy="543806"/>
            <a:chOff x="0" y="0"/>
            <a:chExt cx="508157" cy="543804"/>
          </a:xfrm>
        </p:grpSpPr>
        <p:sp>
          <p:nvSpPr>
            <p:cNvPr id="540"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541"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5</a:t>
              </a:r>
            </a:p>
          </p:txBody>
        </p:sp>
      </p:grpSp>
      <p:grpSp>
        <p:nvGrpSpPr>
          <p:cNvPr id="545" name="Group 26"/>
          <p:cNvGrpSpPr/>
          <p:nvPr/>
        </p:nvGrpSpPr>
        <p:grpSpPr>
          <a:xfrm>
            <a:off x="977740" y="5986264"/>
            <a:ext cx="508159" cy="543806"/>
            <a:chOff x="0" y="0"/>
            <a:chExt cx="508157" cy="543804"/>
          </a:xfrm>
        </p:grpSpPr>
        <p:sp>
          <p:nvSpPr>
            <p:cNvPr id="543"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544"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7</a:t>
              </a:r>
            </a:p>
          </p:txBody>
        </p:sp>
      </p:grpSp>
      <p:grpSp>
        <p:nvGrpSpPr>
          <p:cNvPr id="548" name="Group 29"/>
          <p:cNvGrpSpPr/>
          <p:nvPr/>
        </p:nvGrpSpPr>
        <p:grpSpPr>
          <a:xfrm>
            <a:off x="977740" y="6653893"/>
            <a:ext cx="508159" cy="543806"/>
            <a:chOff x="0" y="0"/>
            <a:chExt cx="508157" cy="543804"/>
          </a:xfrm>
        </p:grpSpPr>
        <p:sp>
          <p:nvSpPr>
            <p:cNvPr id="546"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endParaRPr/>
            </a:p>
          </p:txBody>
        </p:sp>
        <p:sp>
          <p:nvSpPr>
            <p:cNvPr id="547"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r>
                <a:t>8</a:t>
              </a:r>
            </a:p>
          </p:txBody>
        </p:sp>
      </p:grpSp>
      <p:sp>
        <p:nvSpPr>
          <p:cNvPr id="549" name="Freeform 32"/>
          <p:cNvSpPr/>
          <p:nvPr/>
        </p:nvSpPr>
        <p:spPr>
          <a:xfrm>
            <a:off x="16313419" y="1028700"/>
            <a:ext cx="945881" cy="236470"/>
          </a:xfrm>
          <a:prstGeom prst="rect">
            <a:avLst/>
          </a:prstGeom>
          <a:blipFill>
            <a:blip r:embed="rId2"/>
            <a:stretch>
              <a:fillRect/>
            </a:stretch>
          </a:blipFill>
          <a:ln w="12700">
            <a:miter lim="400000"/>
          </a:ln>
        </p:spPr>
        <p:txBody>
          <a:bodyPr lIns="45719" rIns="45719"/>
          <a:lstStyle/>
          <a:p>
            <a:endParaRPr/>
          </a:p>
        </p:txBody>
      </p:sp>
      <p:sp>
        <p:nvSpPr>
          <p:cNvPr id="550" name="Freeform 45"/>
          <p:cNvSpPr/>
          <p:nvPr/>
        </p:nvSpPr>
        <p:spPr>
          <a:xfrm>
            <a:off x="16786359" y="-353712"/>
            <a:ext cx="10994425" cy="10994424"/>
          </a:xfrm>
          <a:prstGeom prst="ellipse">
            <a:avLst/>
          </a:prstGeom>
          <a:ln w="619125" cap="sq">
            <a:solidFill>
              <a:srgbClr val="FD6220">
                <a:alpha val="11765"/>
              </a:srgbClr>
            </a:solidFill>
            <a:miter/>
          </a:ln>
        </p:spPr>
        <p:txBody>
          <a:bodyPr lIns="45719" rIns="45719"/>
          <a:lstStyle/>
          <a:p>
            <a:endParaRPr/>
          </a:p>
        </p:txBody>
      </p:sp>
      <p:sp>
        <p:nvSpPr>
          <p:cNvPr id="551" name="TextBox 1"/>
          <p:cNvSpPr txBox="1"/>
          <p:nvPr/>
        </p:nvSpPr>
        <p:spPr>
          <a:xfrm>
            <a:off x="236220" y="290492"/>
            <a:ext cx="17815561" cy="7640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4800" b="1">
                <a:solidFill>
                  <a:srgbClr val="0033CC"/>
                </a:solidFill>
                <a:latin typeface="Times New Roman"/>
                <a:ea typeface="Times New Roman"/>
                <a:cs typeface="Times New Roman"/>
                <a:sym typeface="Times New Roman"/>
              </a:defRPr>
            </a:lvl1pPr>
          </a:lstStyle>
          <a:p>
            <a:r>
              <a:t>ADVANTAGES &amp; LIMITATIONS</a:t>
            </a:r>
          </a:p>
        </p:txBody>
      </p:sp>
      <p:sp>
        <p:nvSpPr>
          <p:cNvPr id="552" name="TextBox 2"/>
          <p:cNvSpPr txBox="1"/>
          <p:nvPr/>
        </p:nvSpPr>
        <p:spPr>
          <a:xfrm>
            <a:off x="1981413" y="1263398"/>
            <a:ext cx="14943408" cy="40352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12700">
              <a:lnSpc>
                <a:spcPct val="121666"/>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b="1">
                <a:latin typeface="+mn-lt"/>
                <a:ea typeface="+mn-ea"/>
                <a:cs typeface="+mn-cs"/>
                <a:sym typeface="Helvetica"/>
              </a:defRPr>
            </a:pPr>
            <a:r>
              <a:t>Advantages</a:t>
            </a:r>
            <a:endParaRPr sz="1200" b="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b="0"/>
          </a:p>
          <a:p>
            <a:pPr marL="393700" indent="-152400" defTabSz="12700">
              <a:lnSpc>
                <a:spcPct val="135000"/>
              </a:lnSpc>
              <a:buSzPct val="100000"/>
              <a:buFont typeface="TimesNewRomanPSMT"/>
              <a:buChar char="•"/>
              <a:defRPr sz="2100">
                <a:latin typeface="+mn-lt"/>
                <a:ea typeface="+mn-ea"/>
                <a:cs typeface="+mn-cs"/>
                <a:sym typeface="Helvetica"/>
              </a:defRPr>
            </a:pPr>
            <a:r>
              <a:t>Secure role-based authentication system</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Centralized event management platform</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Dynamic and real-time event updates</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Scalable and modular architecture</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User-friendly and intuitive interface</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Efficient data handling using JPA (ORM)</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Supports role-based access (User, Publisher, Host)</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Reduces manual effort and errors in event management</a:t>
            </a:r>
          </a:p>
        </p:txBody>
      </p:sp>
      <p:sp>
        <p:nvSpPr>
          <p:cNvPr id="553" name="TextBox 3"/>
          <p:cNvSpPr txBox="1"/>
          <p:nvPr/>
        </p:nvSpPr>
        <p:spPr>
          <a:xfrm>
            <a:off x="2080327" y="5790967"/>
            <a:ext cx="14745580" cy="40352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12700">
              <a:lnSpc>
                <a:spcPct val="121666"/>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b="1">
                <a:latin typeface="+mn-lt"/>
                <a:ea typeface="+mn-ea"/>
                <a:cs typeface="+mn-cs"/>
                <a:sym typeface="Helvetica"/>
              </a:defRPr>
            </a:pPr>
            <a:r>
              <a:t>Limitations</a:t>
            </a:r>
            <a:endParaRPr sz="1200" b="0"/>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endParaRPr sz="1200" b="0"/>
          </a:p>
          <a:p>
            <a:pPr marL="393700" indent="-152400" defTabSz="12700">
              <a:lnSpc>
                <a:spcPct val="135000"/>
              </a:lnSpc>
              <a:buSzPct val="100000"/>
              <a:buFont typeface="TimesNewRomanPSMT"/>
              <a:buChar char="•"/>
              <a:defRPr sz="2100">
                <a:latin typeface="+mn-lt"/>
                <a:ea typeface="+mn-ea"/>
                <a:cs typeface="+mn-cs"/>
                <a:sym typeface="Helvetica"/>
              </a:defRPr>
            </a:pPr>
            <a:r>
              <a:t>Requires continuous internet connectivity</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Limited to basic authentication (can be enhanced further)</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No advanced notification system (email/SMS)</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Basic UI customization options</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Limited scalability without cloud deployment</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No payment integration (if not implemented)</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Requires further security hardening for production use</a:t>
            </a:r>
            <a:endParaRPr sz="1200"/>
          </a:p>
          <a:p>
            <a:pPr marL="393700" indent="-152400" defTabSz="12700">
              <a:lnSpc>
                <a:spcPct val="135000"/>
              </a:lnSpc>
              <a:buSzPct val="100000"/>
              <a:buFont typeface="TimesNewRomanPSMT"/>
              <a:buChar char="•"/>
              <a:defRPr sz="2100">
                <a:latin typeface="+mn-lt"/>
                <a:ea typeface="+mn-ea"/>
                <a:cs typeface="+mn-cs"/>
                <a:sym typeface="Helvetica"/>
              </a:defRPr>
            </a:pPr>
            <a:r>
              <a:t>Dependent on proper database configuration</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555" name="Freeform 32"/>
          <p:cNvSpPr/>
          <p:nvPr/>
        </p:nvSpPr>
        <p:spPr>
          <a:xfrm>
            <a:off x="16313419" y="1028700"/>
            <a:ext cx="945881" cy="236470"/>
          </a:xfrm>
          <a:prstGeom prst="rect">
            <a:avLst/>
          </a:prstGeom>
          <a:blipFill>
            <a:blip r:embed="rId2"/>
            <a:stretch>
              <a:fillRect/>
            </a:stretch>
          </a:blipFill>
          <a:ln w="12700">
            <a:miter lim="400000"/>
          </a:ln>
        </p:spPr>
        <p:txBody>
          <a:bodyPr lIns="45719" rIns="45719"/>
          <a:lstStyle/>
          <a:p>
            <a:endParaRPr/>
          </a:p>
        </p:txBody>
      </p:sp>
      <p:sp>
        <p:nvSpPr>
          <p:cNvPr id="556" name="TextBox 43"/>
          <p:cNvSpPr txBox="1"/>
          <p:nvPr/>
        </p:nvSpPr>
        <p:spPr>
          <a:xfrm>
            <a:off x="3200400" y="4486171"/>
            <a:ext cx="11159653" cy="13503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0100"/>
              </a:lnSpc>
              <a:defRPr sz="11100" b="1" i="1">
                <a:solidFill>
                  <a:srgbClr val="191919"/>
                </a:solidFill>
                <a:latin typeface="Gotham Bold Italics"/>
                <a:ea typeface="Gotham Bold Italics"/>
                <a:cs typeface="Gotham Bold Italics"/>
                <a:sym typeface="Gotham Bold Italics"/>
              </a:defRPr>
            </a:lvl1pPr>
          </a:lstStyle>
          <a:p>
            <a:r>
              <a:t>Thank you</a:t>
            </a:r>
          </a:p>
        </p:txBody>
      </p:sp>
      <p:sp>
        <p:nvSpPr>
          <p:cNvPr id="557" name="Freeform 45"/>
          <p:cNvSpPr/>
          <p:nvPr/>
        </p:nvSpPr>
        <p:spPr>
          <a:xfrm>
            <a:off x="16786359" y="-353712"/>
            <a:ext cx="10994425" cy="10994424"/>
          </a:xfrm>
          <a:prstGeom prst="ellipse">
            <a:avLst/>
          </a:prstGeom>
          <a:ln w="619125" cap="sq">
            <a:solidFill>
              <a:srgbClr val="FD6220">
                <a:alpha val="11765"/>
              </a:srgbClr>
            </a:solidFill>
            <a:miter/>
          </a:ln>
        </p:spPr>
        <p:txBody>
          <a:bodyPr lIns="45719" rIns="45719"/>
          <a:lstStyle/>
          <a:p>
            <a:endParaRP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TotalTime>
  <Words>1279</Words>
  <Application>Microsoft Office PowerPoint</Application>
  <PresentationFormat>Custom</PresentationFormat>
  <Paragraphs>288</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TimesNewRomanPSMT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VENKATA LOKESH REDDY GUVVALA</cp:lastModifiedBy>
  <cp:revision>1</cp:revision>
  <dcterms:modified xsi:type="dcterms:W3CDTF">2026-05-06T03:35:53Z</dcterms:modified>
</cp:coreProperties>
</file>